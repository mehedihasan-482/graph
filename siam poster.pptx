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29184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1" d="100"/>
          <a:sy n="71" d="100"/>
        </p:scale>
        <p:origin x="-3918" y="-164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dirty="0"/>
              <a:t>                                   Percentage % of Animal</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1"/>
          <c:order val="0"/>
          <c:tx>
            <c:strRef>
              <c:f>Sheet1!$C$9</c:f>
              <c:strCache>
                <c:ptCount val="1"/>
                <c:pt idx="0">
                  <c:v>percentage %</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C813-42BA-82B4-1C0DB7AD074E}"/>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C813-42BA-82B4-1C0DB7AD074E}"/>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C813-42BA-82B4-1C0DB7AD074E}"/>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C813-42BA-82B4-1C0DB7AD074E}"/>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C813-42BA-82B4-1C0DB7AD074E}"/>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C813-42BA-82B4-1C0DB7AD074E}"/>
              </c:ext>
            </c:extLst>
          </c:dPt>
          <c:dLbls>
            <c:dLbl>
              <c:idx val="0"/>
              <c:layout>
                <c:manualLayout>
                  <c:x val="-1.2563429571303587E-2"/>
                  <c:y val="-2.0403543307086637E-2"/>
                </c:manualLayout>
              </c:layout>
              <c:tx>
                <c:rich>
                  <a:bodyPr/>
                  <a:lstStyle/>
                  <a:p>
                    <a:r>
                      <a:rPr lang="en-US" dirty="0"/>
                      <a:t>78%</a:t>
                    </a:r>
                  </a:p>
                </c:rich>
              </c:tx>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1-C813-42BA-82B4-1C0DB7AD074E}"/>
                </c:ext>
              </c:extLst>
            </c:dLbl>
            <c:dLbl>
              <c:idx val="1"/>
              <c:layout>
                <c:manualLayout>
                  <c:x val="2.6150461699100513E-2"/>
                  <c:y val="-1.4512204908996448E-2"/>
                </c:manualLayout>
              </c:layout>
              <c:tx>
                <c:rich>
                  <a:bodyPr/>
                  <a:lstStyle/>
                  <a:p>
                    <a:r>
                      <a:rPr lang="en-US" dirty="0"/>
                      <a:t>62%</a:t>
                    </a:r>
                  </a:p>
                </c:rich>
              </c:tx>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3-C813-42BA-82B4-1C0DB7AD074E}"/>
                </c:ext>
              </c:extLst>
            </c:dLbl>
            <c:dLbl>
              <c:idx val="2"/>
              <c:layout>
                <c:manualLayout>
                  <c:x val="-0.11923622047244095"/>
                  <c:y val="-8.3966899970837144E-2"/>
                </c:manualLayout>
              </c:layout>
              <c:tx>
                <c:rich>
                  <a:bodyPr/>
                  <a:lstStyle/>
                  <a:p>
                    <a:r>
                      <a:rPr lang="en-US" dirty="0"/>
                      <a:t>87%</a:t>
                    </a:r>
                  </a:p>
                </c:rich>
              </c:tx>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5-C813-42BA-82B4-1C0DB7AD074E}"/>
                </c:ext>
              </c:extLst>
            </c:dLbl>
            <c:dLbl>
              <c:idx val="3"/>
              <c:layout>
                <c:manualLayout>
                  <c:x val="-2.683486439195102E-2"/>
                  <c:y val="-8.8527996500437443E-3"/>
                </c:manualLayout>
              </c:layout>
              <c:tx>
                <c:rich>
                  <a:bodyPr/>
                  <a:lstStyle/>
                  <a:p>
                    <a:r>
                      <a:rPr lang="en-US" dirty="0"/>
                      <a:t>42%</a:t>
                    </a:r>
                  </a:p>
                </c:rich>
              </c:tx>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7-C813-42BA-82B4-1C0DB7AD074E}"/>
                </c:ext>
              </c:extLst>
            </c:dLbl>
            <c:dLbl>
              <c:idx val="4"/>
              <c:layout>
                <c:manualLayout>
                  <c:x val="-8.928258967629045E-2"/>
                  <c:y val="-1.1987095363079615E-2"/>
                </c:manualLayout>
              </c:layout>
              <c:tx>
                <c:rich>
                  <a:bodyPr/>
                  <a:lstStyle/>
                  <a:p>
                    <a:r>
                      <a:rPr lang="en-US" dirty="0"/>
                      <a:t>7%</a:t>
                    </a:r>
                  </a:p>
                </c:rich>
              </c:tx>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9-C813-42BA-82B4-1C0DB7AD074E}"/>
                </c:ext>
              </c:extLst>
            </c:dLbl>
            <c:dLbl>
              <c:idx val="5"/>
              <c:layout>
                <c:manualLayout>
                  <c:x val="-7.473184601924765E-2"/>
                  <c:y val="1.6776027996500437E-3"/>
                </c:manualLayout>
              </c:layout>
              <c:tx>
                <c:rich>
                  <a:bodyPr/>
                  <a:lstStyle/>
                  <a:p>
                    <a:r>
                      <a:rPr lang="en-US" dirty="0"/>
                      <a:t>16%</a:t>
                    </a:r>
                  </a:p>
                </c:rich>
              </c:tx>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B-C813-42BA-82B4-1C0DB7AD074E}"/>
                </c:ext>
              </c:extLst>
            </c:dLbl>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Sheet1!$B$10:$B$15</c:f>
              <c:strCache>
                <c:ptCount val="6"/>
                <c:pt idx="0">
                  <c:v>cattle</c:v>
                </c:pt>
                <c:pt idx="1">
                  <c:v>goat</c:v>
                </c:pt>
                <c:pt idx="2">
                  <c:v>chicken</c:v>
                </c:pt>
                <c:pt idx="3">
                  <c:v>duck</c:v>
                </c:pt>
                <c:pt idx="4">
                  <c:v>sheep</c:v>
                </c:pt>
                <c:pt idx="5">
                  <c:v>pigeon</c:v>
                </c:pt>
              </c:strCache>
            </c:strRef>
          </c:cat>
          <c:val>
            <c:numRef>
              <c:f>Sheet1!$C$10:$C$15</c:f>
              <c:numCache>
                <c:formatCode>General</c:formatCode>
                <c:ptCount val="6"/>
                <c:pt idx="0">
                  <c:v>700</c:v>
                </c:pt>
                <c:pt idx="1">
                  <c:v>400</c:v>
                </c:pt>
                <c:pt idx="2">
                  <c:v>800</c:v>
                </c:pt>
                <c:pt idx="3">
                  <c:v>300</c:v>
                </c:pt>
                <c:pt idx="4">
                  <c:v>150</c:v>
                </c:pt>
                <c:pt idx="5">
                  <c:v>200</c:v>
                </c:pt>
              </c:numCache>
            </c:numRef>
          </c:val>
          <c:extLst>
            <c:ext xmlns:c16="http://schemas.microsoft.com/office/drawing/2014/chart" uri="{C3380CC4-5D6E-409C-BE32-E72D297353CC}">
              <c16:uniqueId val="{0000000C-C813-42BA-82B4-1C0DB7AD074E}"/>
            </c:ext>
          </c:extLst>
        </c:ser>
        <c:ser>
          <c:idx val="0"/>
          <c:order val="1"/>
          <c:tx>
            <c:strRef>
              <c:f>Sheet1!$C$9</c:f>
              <c:strCache>
                <c:ptCount val="1"/>
                <c:pt idx="0">
                  <c:v>percentage %</c:v>
                </c:pt>
              </c:strCache>
            </c:strRef>
          </c:tx>
          <c:dPt>
            <c:idx val="0"/>
            <c:bubble3D val="0"/>
            <c:explosion val="2"/>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E-C813-42BA-82B4-1C0DB7AD074E}"/>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0-C813-42BA-82B4-1C0DB7AD074E}"/>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2-C813-42BA-82B4-1C0DB7AD074E}"/>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4-C813-42BA-82B4-1C0DB7AD074E}"/>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6-C813-42BA-82B4-1C0DB7AD074E}"/>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8-C813-42BA-82B4-1C0DB7AD074E}"/>
              </c:ext>
            </c:extLst>
          </c:dPt>
          <c:dLbls>
            <c:dLbl>
              <c:idx val="0"/>
              <c:layout>
                <c:manualLayout>
                  <c:x val="-2.4405074365704289E-3"/>
                  <c:y val="-3.7893700787401619E-2"/>
                </c:manualLayout>
              </c:layout>
              <c:tx>
                <c:rich>
                  <a:bodyPr/>
                  <a:lstStyle/>
                  <a:p>
                    <a:r>
                      <a:rPr lang="en-US"/>
                      <a:t>85%</a:t>
                    </a:r>
                  </a:p>
                </c:rich>
              </c:tx>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E-C813-42BA-82B4-1C0DB7AD074E}"/>
                </c:ext>
              </c:extLst>
            </c:dLbl>
            <c:dLbl>
              <c:idx val="1"/>
              <c:layout>
                <c:manualLayout>
                  <c:x val="2.8202974628171378E-2"/>
                  <c:y val="2.2533537474482356E-2"/>
                </c:manualLayout>
              </c:layout>
              <c:tx>
                <c:rich>
                  <a:bodyPr/>
                  <a:lstStyle/>
                  <a:p>
                    <a:r>
                      <a:rPr lang="en-US"/>
                      <a:t>60%</a:t>
                    </a:r>
                  </a:p>
                </c:rich>
              </c:tx>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10-C813-42BA-82B4-1C0DB7AD074E}"/>
                </c:ext>
              </c:extLst>
            </c:dLbl>
            <c:dLbl>
              <c:idx val="2"/>
              <c:layout>
                <c:manualLayout>
                  <c:x val="-4.914260717410324E-3"/>
                  <c:y val="-1.8761300670749489E-2"/>
                </c:manualLayout>
              </c:layout>
              <c:tx>
                <c:rich>
                  <a:bodyPr/>
                  <a:lstStyle/>
                  <a:p>
                    <a:r>
                      <a:rPr lang="en-US"/>
                      <a:t>90%</a:t>
                    </a:r>
                  </a:p>
                </c:rich>
              </c:tx>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12-C813-42BA-82B4-1C0DB7AD074E}"/>
                </c:ext>
              </c:extLst>
            </c:dLbl>
            <c:dLbl>
              <c:idx val="3"/>
              <c:layout>
                <c:manualLayout>
                  <c:x val="-1.8748031496062991E-2"/>
                  <c:y val="-5.3265164771070322E-2"/>
                </c:manualLayout>
              </c:layout>
              <c:tx>
                <c:rich>
                  <a:bodyPr/>
                  <a:lstStyle/>
                  <a:p>
                    <a:r>
                      <a:rPr lang="en-US"/>
                      <a:t>50%</a:t>
                    </a:r>
                  </a:p>
                </c:rich>
              </c:tx>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14-C813-42BA-82B4-1C0DB7AD074E}"/>
                </c:ext>
              </c:extLst>
            </c:dLbl>
            <c:dLbl>
              <c:idx val="4"/>
              <c:layout>
                <c:manualLayout>
                  <c:x val="1.5741907261592299E-2"/>
                  <c:y val="1.0745115193934092E-2"/>
                </c:manualLayout>
              </c:layout>
              <c:tx>
                <c:rich>
                  <a:bodyPr/>
                  <a:lstStyle/>
                  <a:p>
                    <a:r>
                      <a:rPr lang="en-US"/>
                      <a:t>10%</a:t>
                    </a:r>
                  </a:p>
                </c:rich>
              </c:tx>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16-C813-42BA-82B4-1C0DB7AD074E}"/>
                </c:ext>
              </c:extLst>
            </c:dLbl>
            <c:dLbl>
              <c:idx val="5"/>
              <c:layout>
                <c:manualLayout>
                  <c:x val="6.5513998250218211E-3"/>
                  <c:y val="0"/>
                </c:manualLayout>
              </c:layout>
              <c:tx>
                <c:rich>
                  <a:bodyPr/>
                  <a:lstStyle/>
                  <a:p>
                    <a:r>
                      <a:rPr lang="en-US"/>
                      <a:t>20%</a:t>
                    </a:r>
                  </a:p>
                </c:rich>
              </c:tx>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18-C813-42BA-82B4-1C0DB7AD074E}"/>
                </c:ext>
              </c:extLst>
            </c:dLbl>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Sheet1!$B$10:$B$15</c:f>
              <c:strCache>
                <c:ptCount val="6"/>
                <c:pt idx="0">
                  <c:v>cattle</c:v>
                </c:pt>
                <c:pt idx="1">
                  <c:v>goat</c:v>
                </c:pt>
                <c:pt idx="2">
                  <c:v>chicken</c:v>
                </c:pt>
                <c:pt idx="3">
                  <c:v>duck</c:v>
                </c:pt>
                <c:pt idx="4">
                  <c:v>sheep</c:v>
                </c:pt>
                <c:pt idx="5">
                  <c:v>pigeon</c:v>
                </c:pt>
              </c:strCache>
            </c:strRef>
          </c:cat>
          <c:val>
            <c:numRef>
              <c:f>Sheet1!$C$10:$C$15</c:f>
              <c:numCache>
                <c:formatCode>General</c:formatCode>
                <c:ptCount val="6"/>
                <c:pt idx="0">
                  <c:v>700</c:v>
                </c:pt>
                <c:pt idx="1">
                  <c:v>400</c:v>
                </c:pt>
                <c:pt idx="2">
                  <c:v>800</c:v>
                </c:pt>
                <c:pt idx="3">
                  <c:v>300</c:v>
                </c:pt>
                <c:pt idx="4">
                  <c:v>150</c:v>
                </c:pt>
                <c:pt idx="5">
                  <c:v>200</c:v>
                </c:pt>
              </c:numCache>
            </c:numRef>
          </c:val>
          <c:extLst>
            <c:ext xmlns:c16="http://schemas.microsoft.com/office/drawing/2014/chart" uri="{C3380CC4-5D6E-409C-BE32-E72D297353CC}">
              <c16:uniqueId val="{00000019-C813-42BA-82B4-1C0DB7AD074E}"/>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a:t> Purpose </a:t>
            </a:r>
            <a:r>
              <a:rPr lang="en-US" dirty="0"/>
              <a:t>of Rearing</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percentStacked"/>
        <c:varyColors val="0"/>
        <c:ser>
          <c:idx val="0"/>
          <c:order val="0"/>
          <c:tx>
            <c:strRef>
              <c:f>Sheet5!$C$2</c:f>
              <c:strCache>
                <c:ptCount val="1"/>
                <c:pt idx="0">
                  <c:v>meat</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invertIfNegative val="0"/>
          <c:cat>
            <c:strRef>
              <c:f>Sheet5!$B$3:$B$11</c:f>
              <c:strCache>
                <c:ptCount val="6"/>
                <c:pt idx="0">
                  <c:v>cattle</c:v>
                </c:pt>
                <c:pt idx="1">
                  <c:v>goat</c:v>
                </c:pt>
                <c:pt idx="2">
                  <c:v>chicken</c:v>
                </c:pt>
                <c:pt idx="3">
                  <c:v>duck</c:v>
                </c:pt>
                <c:pt idx="4">
                  <c:v>sheep</c:v>
                </c:pt>
                <c:pt idx="5">
                  <c:v>pigeon</c:v>
                </c:pt>
              </c:strCache>
            </c:strRef>
          </c:cat>
          <c:val>
            <c:numRef>
              <c:f>Sheet5!$C$3:$C$11</c:f>
              <c:numCache>
                <c:formatCode>General</c:formatCode>
                <c:ptCount val="9"/>
                <c:pt idx="0">
                  <c:v>30</c:v>
                </c:pt>
                <c:pt idx="1">
                  <c:v>80</c:v>
                </c:pt>
                <c:pt idx="2">
                  <c:v>10</c:v>
                </c:pt>
                <c:pt idx="3">
                  <c:v>10</c:v>
                </c:pt>
                <c:pt idx="4">
                  <c:v>100</c:v>
                </c:pt>
                <c:pt idx="5">
                  <c:v>100</c:v>
                </c:pt>
              </c:numCache>
            </c:numRef>
          </c:val>
          <c:extLst>
            <c:ext xmlns:c16="http://schemas.microsoft.com/office/drawing/2014/chart" uri="{C3380CC4-5D6E-409C-BE32-E72D297353CC}">
              <c16:uniqueId val="{00000000-A9AD-44E8-9EB3-1225CD908111}"/>
            </c:ext>
          </c:extLst>
        </c:ser>
        <c:ser>
          <c:idx val="1"/>
          <c:order val="1"/>
          <c:tx>
            <c:strRef>
              <c:f>Sheet5!$D$2</c:f>
              <c:strCache>
                <c:ptCount val="1"/>
                <c:pt idx="0">
                  <c:v>milk</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p3d/>
          </c:spPr>
          <c:invertIfNegative val="0"/>
          <c:cat>
            <c:strRef>
              <c:f>Sheet5!$B$3:$B$11</c:f>
              <c:strCache>
                <c:ptCount val="6"/>
                <c:pt idx="0">
                  <c:v>cattle</c:v>
                </c:pt>
                <c:pt idx="1">
                  <c:v>goat</c:v>
                </c:pt>
                <c:pt idx="2">
                  <c:v>chicken</c:v>
                </c:pt>
                <c:pt idx="3">
                  <c:v>duck</c:v>
                </c:pt>
                <c:pt idx="4">
                  <c:v>sheep</c:v>
                </c:pt>
                <c:pt idx="5">
                  <c:v>pigeon</c:v>
                </c:pt>
              </c:strCache>
            </c:strRef>
          </c:cat>
          <c:val>
            <c:numRef>
              <c:f>Sheet5!$D$3:$D$11</c:f>
              <c:numCache>
                <c:formatCode>General</c:formatCode>
                <c:ptCount val="9"/>
                <c:pt idx="0">
                  <c:v>60</c:v>
                </c:pt>
              </c:numCache>
            </c:numRef>
          </c:val>
          <c:extLst>
            <c:ext xmlns:c16="http://schemas.microsoft.com/office/drawing/2014/chart" uri="{C3380CC4-5D6E-409C-BE32-E72D297353CC}">
              <c16:uniqueId val="{00000001-A9AD-44E8-9EB3-1225CD908111}"/>
            </c:ext>
          </c:extLst>
        </c:ser>
        <c:ser>
          <c:idx val="2"/>
          <c:order val="2"/>
          <c:tx>
            <c:strRef>
              <c:f>Sheet5!$E$2</c:f>
              <c:strCache>
                <c:ptCount val="1"/>
                <c:pt idx="0">
                  <c:v>egg</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sp3d/>
          </c:spPr>
          <c:invertIfNegative val="0"/>
          <c:cat>
            <c:strRef>
              <c:f>Sheet5!$B$3:$B$11</c:f>
              <c:strCache>
                <c:ptCount val="6"/>
                <c:pt idx="0">
                  <c:v>cattle</c:v>
                </c:pt>
                <c:pt idx="1">
                  <c:v>goat</c:v>
                </c:pt>
                <c:pt idx="2">
                  <c:v>chicken</c:v>
                </c:pt>
                <c:pt idx="3">
                  <c:v>duck</c:v>
                </c:pt>
                <c:pt idx="4">
                  <c:v>sheep</c:v>
                </c:pt>
                <c:pt idx="5">
                  <c:v>pigeon</c:v>
                </c:pt>
              </c:strCache>
            </c:strRef>
          </c:cat>
          <c:val>
            <c:numRef>
              <c:f>Sheet5!$E$3:$E$11</c:f>
              <c:numCache>
                <c:formatCode>General</c:formatCode>
                <c:ptCount val="9"/>
              </c:numCache>
            </c:numRef>
          </c:val>
          <c:extLst>
            <c:ext xmlns:c16="http://schemas.microsoft.com/office/drawing/2014/chart" uri="{C3380CC4-5D6E-409C-BE32-E72D297353CC}">
              <c16:uniqueId val="{00000002-A9AD-44E8-9EB3-1225CD908111}"/>
            </c:ext>
          </c:extLst>
        </c:ser>
        <c:ser>
          <c:idx val="3"/>
          <c:order val="3"/>
          <c:tx>
            <c:strRef>
              <c:f>Sheet5!$F$2</c:f>
              <c:strCache>
                <c:ptCount val="1"/>
                <c:pt idx="0">
                  <c:v>dual</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sp3d/>
          </c:spPr>
          <c:invertIfNegative val="0"/>
          <c:cat>
            <c:strRef>
              <c:f>Sheet5!$B$3:$B$11</c:f>
              <c:strCache>
                <c:ptCount val="6"/>
                <c:pt idx="0">
                  <c:v>cattle</c:v>
                </c:pt>
                <c:pt idx="1">
                  <c:v>goat</c:v>
                </c:pt>
                <c:pt idx="2">
                  <c:v>chicken</c:v>
                </c:pt>
                <c:pt idx="3">
                  <c:v>duck</c:v>
                </c:pt>
                <c:pt idx="4">
                  <c:v>sheep</c:v>
                </c:pt>
                <c:pt idx="5">
                  <c:v>pigeon</c:v>
                </c:pt>
              </c:strCache>
            </c:strRef>
          </c:cat>
          <c:val>
            <c:numRef>
              <c:f>Sheet5!$F$3:$F$11</c:f>
              <c:numCache>
                <c:formatCode>General</c:formatCode>
                <c:ptCount val="9"/>
                <c:pt idx="0">
                  <c:v>10</c:v>
                </c:pt>
                <c:pt idx="1">
                  <c:v>20</c:v>
                </c:pt>
                <c:pt idx="2">
                  <c:v>90</c:v>
                </c:pt>
                <c:pt idx="3">
                  <c:v>90</c:v>
                </c:pt>
              </c:numCache>
            </c:numRef>
          </c:val>
          <c:extLst>
            <c:ext xmlns:c16="http://schemas.microsoft.com/office/drawing/2014/chart" uri="{C3380CC4-5D6E-409C-BE32-E72D297353CC}">
              <c16:uniqueId val="{00000003-A9AD-44E8-9EB3-1225CD908111}"/>
            </c:ext>
          </c:extLst>
        </c:ser>
        <c:dLbls>
          <c:showLegendKey val="0"/>
          <c:showVal val="0"/>
          <c:showCatName val="0"/>
          <c:showSerName val="0"/>
          <c:showPercent val="0"/>
          <c:showBubbleSize val="0"/>
        </c:dLbls>
        <c:gapWidth val="150"/>
        <c:shape val="box"/>
        <c:axId val="735185440"/>
        <c:axId val="735183640"/>
        <c:axId val="0"/>
        <c:extLst>
          <c:ext xmlns:c15="http://schemas.microsoft.com/office/drawing/2012/chart" uri="{02D57815-91ED-43cb-92C2-25804820EDAC}">
            <c15:filteredBarSeries>
              <c15:ser>
                <c:idx val="4"/>
                <c:order val="4"/>
                <c:tx>
                  <c:strRef>
                    <c:extLst>
                      <c:ext uri="{02D57815-91ED-43cb-92C2-25804820EDAC}">
                        <c15:formulaRef>
                          <c15:sqref>Sheet5!$G$2</c15:sqref>
                        </c15:formulaRef>
                      </c:ext>
                    </c:extLst>
                    <c:strCache>
                      <c:ptCount val="1"/>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sp3d/>
                </c:spPr>
                <c:invertIfNegative val="0"/>
                <c:cat>
                  <c:strRef>
                    <c:extLst>
                      <c:ext uri="{02D57815-91ED-43cb-92C2-25804820EDAC}">
                        <c15:formulaRef>
                          <c15:sqref>Sheet5!$B$3:$B$11</c15:sqref>
                        </c15:formulaRef>
                      </c:ext>
                    </c:extLst>
                    <c:strCache>
                      <c:ptCount val="6"/>
                      <c:pt idx="0">
                        <c:v>cattle</c:v>
                      </c:pt>
                      <c:pt idx="1">
                        <c:v>goat</c:v>
                      </c:pt>
                      <c:pt idx="2">
                        <c:v>chicken</c:v>
                      </c:pt>
                      <c:pt idx="3">
                        <c:v>duck</c:v>
                      </c:pt>
                      <c:pt idx="4">
                        <c:v>sheep</c:v>
                      </c:pt>
                      <c:pt idx="5">
                        <c:v>pigeon</c:v>
                      </c:pt>
                    </c:strCache>
                  </c:strRef>
                </c:cat>
                <c:val>
                  <c:numRef>
                    <c:extLst>
                      <c:ext uri="{02D57815-91ED-43cb-92C2-25804820EDAC}">
                        <c15:formulaRef>
                          <c15:sqref>Sheet5!$G$3:$G$11</c15:sqref>
                        </c15:formulaRef>
                      </c:ext>
                    </c:extLst>
                    <c:numCache>
                      <c:formatCode>General</c:formatCode>
                      <c:ptCount val="9"/>
                    </c:numCache>
                  </c:numRef>
                </c:val>
                <c:extLst>
                  <c:ext xmlns:c16="http://schemas.microsoft.com/office/drawing/2014/chart" uri="{C3380CC4-5D6E-409C-BE32-E72D297353CC}">
                    <c16:uniqueId val="{00000004-A9AD-44E8-9EB3-1225CD908111}"/>
                  </c:ext>
                </c:extLst>
              </c15:ser>
            </c15:filteredBarSeries>
          </c:ext>
        </c:extLst>
      </c:bar3DChart>
      <c:catAx>
        <c:axId val="735185440"/>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735183640"/>
        <c:crosses val="autoZero"/>
        <c:auto val="1"/>
        <c:lblAlgn val="ctr"/>
        <c:lblOffset val="100"/>
        <c:noMultiLvlLbl val="0"/>
      </c:catAx>
      <c:valAx>
        <c:axId val="735183640"/>
        <c:scaling>
          <c:orientation val="minMax"/>
        </c:scaling>
        <c:delete val="0"/>
        <c:axPos val="l"/>
        <c:majorGridlines>
          <c:spPr>
            <a:ln w="9525" cap="flat" cmpd="sng" algn="ctr">
              <a:solidFill>
                <a:schemeClr val="tx2">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7351854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r>
              <a:rPr lang="en-US"/>
              <a:t>Training</a:t>
            </a:r>
          </a:p>
        </c:rich>
      </c:tx>
      <c:overlay val="0"/>
      <c:spPr>
        <a:noFill/>
        <a:ln>
          <a:noFill/>
        </a:ln>
        <a:effectLst/>
      </c:spPr>
      <c:txPr>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lotArea>
      <c:layout/>
      <c:barChart>
        <c:barDir val="col"/>
        <c:grouping val="clustered"/>
        <c:varyColors val="0"/>
        <c:ser>
          <c:idx val="0"/>
          <c:order val="0"/>
          <c:tx>
            <c:strRef>
              <c:f>Sheet9!$D$2</c:f>
              <c:strCache>
                <c:ptCount val="1"/>
                <c:pt idx="0">
                  <c:v>yes</c:v>
                </c:pt>
              </c:strCache>
            </c:strRef>
          </c:tx>
          <c:spPr>
            <a:solidFill>
              <a:schemeClr val="accent1"/>
            </a:solidFill>
            <a:ln>
              <a:noFill/>
            </a:ln>
            <a:effectLst/>
          </c:spPr>
          <c:invertIfNegative val="0"/>
          <c:cat>
            <c:strRef>
              <c:f>Sheet9!$C$3:$C$5</c:f>
              <c:strCache>
                <c:ptCount val="2"/>
                <c:pt idx="0">
                  <c:v>Government</c:v>
                </c:pt>
                <c:pt idx="1">
                  <c:v>NGO</c:v>
                </c:pt>
              </c:strCache>
            </c:strRef>
          </c:cat>
          <c:val>
            <c:numRef>
              <c:f>Sheet9!$D$3:$D$5</c:f>
              <c:numCache>
                <c:formatCode>General</c:formatCode>
                <c:ptCount val="3"/>
                <c:pt idx="0">
                  <c:v>10</c:v>
                </c:pt>
                <c:pt idx="1">
                  <c:v>5</c:v>
                </c:pt>
              </c:numCache>
            </c:numRef>
          </c:val>
          <c:extLst>
            <c:ext xmlns:c16="http://schemas.microsoft.com/office/drawing/2014/chart" uri="{C3380CC4-5D6E-409C-BE32-E72D297353CC}">
              <c16:uniqueId val="{00000000-013C-49BE-89B4-A9516D2C0FE8}"/>
            </c:ext>
          </c:extLst>
        </c:ser>
        <c:ser>
          <c:idx val="1"/>
          <c:order val="1"/>
          <c:tx>
            <c:strRef>
              <c:f>Sheet9!$E$2</c:f>
              <c:strCache>
                <c:ptCount val="1"/>
                <c:pt idx="0">
                  <c:v>No</c:v>
                </c:pt>
              </c:strCache>
            </c:strRef>
          </c:tx>
          <c:spPr>
            <a:solidFill>
              <a:schemeClr val="accent2"/>
            </a:solidFill>
            <a:ln>
              <a:noFill/>
            </a:ln>
            <a:effectLst/>
          </c:spPr>
          <c:invertIfNegative val="0"/>
          <c:cat>
            <c:strRef>
              <c:f>Sheet9!$C$3:$C$5</c:f>
              <c:strCache>
                <c:ptCount val="2"/>
                <c:pt idx="0">
                  <c:v>Government</c:v>
                </c:pt>
                <c:pt idx="1">
                  <c:v>NGO</c:v>
                </c:pt>
              </c:strCache>
            </c:strRef>
          </c:cat>
          <c:val>
            <c:numRef>
              <c:f>Sheet9!$E$3:$E$5</c:f>
              <c:numCache>
                <c:formatCode>General</c:formatCode>
                <c:ptCount val="3"/>
                <c:pt idx="0">
                  <c:v>90</c:v>
                </c:pt>
                <c:pt idx="1">
                  <c:v>95</c:v>
                </c:pt>
              </c:numCache>
            </c:numRef>
          </c:val>
          <c:extLst>
            <c:ext xmlns:c16="http://schemas.microsoft.com/office/drawing/2014/chart" uri="{C3380CC4-5D6E-409C-BE32-E72D297353CC}">
              <c16:uniqueId val="{00000001-013C-49BE-89B4-A9516D2C0FE8}"/>
            </c:ext>
          </c:extLst>
        </c:ser>
        <c:dLbls>
          <c:showLegendKey val="0"/>
          <c:showVal val="0"/>
          <c:showCatName val="0"/>
          <c:showSerName val="0"/>
          <c:showPercent val="0"/>
          <c:showBubbleSize val="0"/>
        </c:dLbls>
        <c:gapWidth val="267"/>
        <c:overlap val="-43"/>
        <c:axId val="464915016"/>
        <c:axId val="464908176"/>
        <c:extLst>
          <c:ext xmlns:c15="http://schemas.microsoft.com/office/drawing/2012/chart" uri="{02D57815-91ED-43cb-92C2-25804820EDAC}">
            <c15:filteredBarSeries>
              <c15:ser>
                <c:idx val="2"/>
                <c:order val="2"/>
                <c:tx>
                  <c:strRef>
                    <c:extLst>
                      <c:ext uri="{02D57815-91ED-43cb-92C2-25804820EDAC}">
                        <c15:formulaRef>
                          <c15:sqref>Sheet9!$F$2</c15:sqref>
                        </c15:formulaRef>
                      </c:ext>
                    </c:extLst>
                    <c:strCache>
                      <c:ptCount val="1"/>
                    </c:strCache>
                  </c:strRef>
                </c:tx>
                <c:spPr>
                  <a:solidFill>
                    <a:schemeClr val="accent3"/>
                  </a:solidFill>
                  <a:ln>
                    <a:noFill/>
                  </a:ln>
                  <a:effectLst/>
                </c:spPr>
                <c:invertIfNegative val="0"/>
                <c:cat>
                  <c:strRef>
                    <c:extLst>
                      <c:ext uri="{02D57815-91ED-43cb-92C2-25804820EDAC}">
                        <c15:formulaRef>
                          <c15:sqref>Sheet9!$C$3:$C$5</c15:sqref>
                        </c15:formulaRef>
                      </c:ext>
                    </c:extLst>
                    <c:strCache>
                      <c:ptCount val="2"/>
                      <c:pt idx="0">
                        <c:v>Government</c:v>
                      </c:pt>
                      <c:pt idx="1">
                        <c:v>NGO</c:v>
                      </c:pt>
                    </c:strCache>
                  </c:strRef>
                </c:cat>
                <c:val>
                  <c:numRef>
                    <c:extLst>
                      <c:ext uri="{02D57815-91ED-43cb-92C2-25804820EDAC}">
                        <c15:formulaRef>
                          <c15:sqref>Sheet9!$F$3:$F$5</c15:sqref>
                        </c15:formulaRef>
                      </c:ext>
                    </c:extLst>
                    <c:numCache>
                      <c:formatCode>General</c:formatCode>
                      <c:ptCount val="3"/>
                    </c:numCache>
                  </c:numRef>
                </c:val>
                <c:extLst>
                  <c:ext xmlns:c16="http://schemas.microsoft.com/office/drawing/2014/chart" uri="{C3380CC4-5D6E-409C-BE32-E72D297353CC}">
                    <c16:uniqueId val="{00000002-013C-49BE-89B4-A9516D2C0FE8}"/>
                  </c:ext>
                </c:extLst>
              </c15:ser>
            </c15:filteredBarSeries>
          </c:ext>
        </c:extLst>
      </c:barChart>
      <c:catAx>
        <c:axId val="464915016"/>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US"/>
          </a:p>
        </c:txPr>
        <c:crossAx val="464908176"/>
        <c:crosses val="autoZero"/>
        <c:auto val="1"/>
        <c:lblAlgn val="ctr"/>
        <c:lblOffset val="100"/>
        <c:noMultiLvlLbl val="0"/>
      </c:catAx>
      <c:valAx>
        <c:axId val="464908176"/>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464915016"/>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en-US"/>
              <a:t>Management of Livestock &amp; Poultry</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US"/>
        </a:p>
      </c:txPr>
    </c:title>
    <c:autoTitleDeleted val="0"/>
    <c:plotArea>
      <c:layout/>
      <c:barChart>
        <c:barDir val="bar"/>
        <c:grouping val="clustered"/>
        <c:varyColors val="0"/>
        <c:ser>
          <c:idx val="0"/>
          <c:order val="0"/>
          <c:tx>
            <c:strRef>
              <c:f>Sheet3!$C$2</c:f>
              <c:strCache>
                <c:ptCount val="1"/>
                <c:pt idx="0">
                  <c:v>Intensive</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cat>
            <c:strRef>
              <c:f>Sheet3!$B$3:$B$9</c:f>
              <c:strCache>
                <c:ptCount val="6"/>
                <c:pt idx="0">
                  <c:v>cattle</c:v>
                </c:pt>
                <c:pt idx="1">
                  <c:v>goat</c:v>
                </c:pt>
                <c:pt idx="2">
                  <c:v>chicken</c:v>
                </c:pt>
                <c:pt idx="3">
                  <c:v>duck</c:v>
                </c:pt>
                <c:pt idx="4">
                  <c:v>sheep</c:v>
                </c:pt>
                <c:pt idx="5">
                  <c:v>pigeon</c:v>
                </c:pt>
              </c:strCache>
            </c:strRef>
          </c:cat>
          <c:val>
            <c:numRef>
              <c:f>Sheet3!$C$3:$C$9</c:f>
              <c:numCache>
                <c:formatCode>General</c:formatCode>
                <c:ptCount val="7"/>
                <c:pt idx="0">
                  <c:v>20</c:v>
                </c:pt>
                <c:pt idx="1">
                  <c:v>15</c:v>
                </c:pt>
                <c:pt idx="2">
                  <c:v>10</c:v>
                </c:pt>
                <c:pt idx="4">
                  <c:v>5</c:v>
                </c:pt>
              </c:numCache>
            </c:numRef>
          </c:val>
          <c:extLst>
            <c:ext xmlns:c16="http://schemas.microsoft.com/office/drawing/2014/chart" uri="{C3380CC4-5D6E-409C-BE32-E72D297353CC}">
              <c16:uniqueId val="{00000000-5FFD-4714-912A-364FD34CF8D9}"/>
            </c:ext>
          </c:extLst>
        </c:ser>
        <c:ser>
          <c:idx val="1"/>
          <c:order val="1"/>
          <c:tx>
            <c:strRef>
              <c:f>Sheet3!$D$2</c:f>
              <c:strCache>
                <c:ptCount val="1"/>
                <c:pt idx="0">
                  <c:v>Semi-intensive</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invertIfNegative val="0"/>
          <c:cat>
            <c:strRef>
              <c:f>Sheet3!$B$3:$B$9</c:f>
              <c:strCache>
                <c:ptCount val="6"/>
                <c:pt idx="0">
                  <c:v>cattle</c:v>
                </c:pt>
                <c:pt idx="1">
                  <c:v>goat</c:v>
                </c:pt>
                <c:pt idx="2">
                  <c:v>chicken</c:v>
                </c:pt>
                <c:pt idx="3">
                  <c:v>duck</c:v>
                </c:pt>
                <c:pt idx="4">
                  <c:v>sheep</c:v>
                </c:pt>
                <c:pt idx="5">
                  <c:v>pigeon</c:v>
                </c:pt>
              </c:strCache>
            </c:strRef>
          </c:cat>
          <c:val>
            <c:numRef>
              <c:f>Sheet3!$D$3:$D$9</c:f>
              <c:numCache>
                <c:formatCode>General</c:formatCode>
                <c:ptCount val="7"/>
                <c:pt idx="0">
                  <c:v>80</c:v>
                </c:pt>
                <c:pt idx="1">
                  <c:v>80</c:v>
                </c:pt>
                <c:pt idx="2">
                  <c:v>70</c:v>
                </c:pt>
                <c:pt idx="3">
                  <c:v>80</c:v>
                </c:pt>
                <c:pt idx="4">
                  <c:v>90</c:v>
                </c:pt>
                <c:pt idx="5">
                  <c:v>100</c:v>
                </c:pt>
              </c:numCache>
            </c:numRef>
          </c:val>
          <c:extLst>
            <c:ext xmlns:c16="http://schemas.microsoft.com/office/drawing/2014/chart" uri="{C3380CC4-5D6E-409C-BE32-E72D297353CC}">
              <c16:uniqueId val="{00000001-5FFD-4714-912A-364FD34CF8D9}"/>
            </c:ext>
          </c:extLst>
        </c:ser>
        <c:ser>
          <c:idx val="2"/>
          <c:order val="2"/>
          <c:tx>
            <c:strRef>
              <c:f>Sheet3!$E$2</c:f>
              <c:strCache>
                <c:ptCount val="1"/>
                <c:pt idx="0">
                  <c:v>Extensive</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invertIfNegative val="0"/>
          <c:cat>
            <c:strRef>
              <c:f>Sheet3!$B$3:$B$9</c:f>
              <c:strCache>
                <c:ptCount val="6"/>
                <c:pt idx="0">
                  <c:v>cattle</c:v>
                </c:pt>
                <c:pt idx="1">
                  <c:v>goat</c:v>
                </c:pt>
                <c:pt idx="2">
                  <c:v>chicken</c:v>
                </c:pt>
                <c:pt idx="3">
                  <c:v>duck</c:v>
                </c:pt>
                <c:pt idx="4">
                  <c:v>sheep</c:v>
                </c:pt>
                <c:pt idx="5">
                  <c:v>pigeon</c:v>
                </c:pt>
              </c:strCache>
            </c:strRef>
          </c:cat>
          <c:val>
            <c:numRef>
              <c:f>Sheet3!$E$3:$E$9</c:f>
              <c:numCache>
                <c:formatCode>General</c:formatCode>
                <c:ptCount val="7"/>
                <c:pt idx="1">
                  <c:v>5</c:v>
                </c:pt>
                <c:pt idx="2">
                  <c:v>20</c:v>
                </c:pt>
                <c:pt idx="3">
                  <c:v>20</c:v>
                </c:pt>
                <c:pt idx="4">
                  <c:v>5</c:v>
                </c:pt>
              </c:numCache>
            </c:numRef>
          </c:val>
          <c:extLst>
            <c:ext xmlns:c16="http://schemas.microsoft.com/office/drawing/2014/chart" uri="{C3380CC4-5D6E-409C-BE32-E72D297353CC}">
              <c16:uniqueId val="{00000002-5FFD-4714-912A-364FD34CF8D9}"/>
            </c:ext>
          </c:extLst>
        </c:ser>
        <c:dLbls>
          <c:showLegendKey val="0"/>
          <c:showVal val="0"/>
          <c:showCatName val="0"/>
          <c:showSerName val="0"/>
          <c:showPercent val="0"/>
          <c:showBubbleSize val="0"/>
        </c:dLbls>
        <c:gapWidth val="100"/>
        <c:axId val="562904256"/>
        <c:axId val="562904616"/>
        <c:extLst>
          <c:ext xmlns:c15="http://schemas.microsoft.com/office/drawing/2012/chart" uri="{02D57815-91ED-43cb-92C2-25804820EDAC}">
            <c15:filteredBarSeries>
              <c15:ser>
                <c:idx val="3"/>
                <c:order val="3"/>
                <c:tx>
                  <c:strRef>
                    <c:extLst>
                      <c:ext uri="{02D57815-91ED-43cb-92C2-25804820EDAC}">
                        <c15:formulaRef>
                          <c15:sqref>Sheet3!$F$2</c15:sqref>
                        </c15:formulaRef>
                      </c:ext>
                    </c:extLst>
                    <c:strCache>
                      <c:ptCount val="1"/>
                    </c:strCache>
                  </c:strRef>
                </c:tx>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c:spPr>
                <c:invertIfNegative val="0"/>
                <c:cat>
                  <c:strRef>
                    <c:extLst>
                      <c:ext uri="{02D57815-91ED-43cb-92C2-25804820EDAC}">
                        <c15:formulaRef>
                          <c15:sqref>Sheet3!$B$3:$B$9</c15:sqref>
                        </c15:formulaRef>
                      </c:ext>
                    </c:extLst>
                    <c:strCache>
                      <c:ptCount val="6"/>
                      <c:pt idx="0">
                        <c:v>cattle</c:v>
                      </c:pt>
                      <c:pt idx="1">
                        <c:v>goat</c:v>
                      </c:pt>
                      <c:pt idx="2">
                        <c:v>chicken</c:v>
                      </c:pt>
                      <c:pt idx="3">
                        <c:v>duck</c:v>
                      </c:pt>
                      <c:pt idx="4">
                        <c:v>sheep</c:v>
                      </c:pt>
                      <c:pt idx="5">
                        <c:v>pigeon</c:v>
                      </c:pt>
                    </c:strCache>
                  </c:strRef>
                </c:cat>
                <c:val>
                  <c:numRef>
                    <c:extLst>
                      <c:ext uri="{02D57815-91ED-43cb-92C2-25804820EDAC}">
                        <c15:formulaRef>
                          <c15:sqref>Sheet3!$F$3:$F$9</c15:sqref>
                        </c15:formulaRef>
                      </c:ext>
                    </c:extLst>
                    <c:numCache>
                      <c:formatCode>General</c:formatCode>
                      <c:ptCount val="7"/>
                    </c:numCache>
                  </c:numRef>
                </c:val>
                <c:extLst>
                  <c:ext xmlns:c16="http://schemas.microsoft.com/office/drawing/2014/chart" uri="{C3380CC4-5D6E-409C-BE32-E72D297353CC}">
                    <c16:uniqueId val="{00000003-5FFD-4714-912A-364FD34CF8D9}"/>
                  </c:ext>
                </c:extLst>
              </c15:ser>
            </c15:filteredBarSeries>
          </c:ext>
        </c:extLst>
      </c:barChart>
      <c:catAx>
        <c:axId val="562904256"/>
        <c:scaling>
          <c:orientation val="minMax"/>
        </c:scaling>
        <c:delete val="0"/>
        <c:axPos val="l"/>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562904616"/>
        <c:crosses val="autoZero"/>
        <c:auto val="1"/>
        <c:lblAlgn val="ctr"/>
        <c:lblOffset val="100"/>
        <c:noMultiLvlLbl val="0"/>
      </c:catAx>
      <c:valAx>
        <c:axId val="562904616"/>
        <c:scaling>
          <c:orientation val="minMax"/>
        </c:scaling>
        <c:delete val="0"/>
        <c:axPos val="b"/>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5629042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en-US"/>
              <a:t>Housing of Livestock &amp; Poultry</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US"/>
        </a:p>
      </c:txPr>
    </c:title>
    <c:autoTitleDeleted val="0"/>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percentStacked"/>
        <c:varyColors val="0"/>
        <c:ser>
          <c:idx val="0"/>
          <c:order val="0"/>
          <c:tx>
            <c:strRef>
              <c:f>Sheet4!$C$2</c:f>
              <c:strCache>
                <c:ptCount val="1"/>
                <c:pt idx="0">
                  <c:v>free range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Sheet4!$B$3:$B$8</c:f>
              <c:strCache>
                <c:ptCount val="6"/>
                <c:pt idx="0">
                  <c:v>cattle</c:v>
                </c:pt>
                <c:pt idx="1">
                  <c:v>goat</c:v>
                </c:pt>
                <c:pt idx="2">
                  <c:v>chicken</c:v>
                </c:pt>
                <c:pt idx="3">
                  <c:v>duck</c:v>
                </c:pt>
                <c:pt idx="4">
                  <c:v>sheep</c:v>
                </c:pt>
                <c:pt idx="5">
                  <c:v>pigeon</c:v>
                </c:pt>
              </c:strCache>
            </c:strRef>
          </c:cat>
          <c:val>
            <c:numRef>
              <c:f>Sheet4!$C$3:$C$8</c:f>
              <c:numCache>
                <c:formatCode>General</c:formatCode>
                <c:ptCount val="6"/>
                <c:pt idx="1">
                  <c:v>10</c:v>
                </c:pt>
                <c:pt idx="2">
                  <c:v>95</c:v>
                </c:pt>
                <c:pt idx="4">
                  <c:v>5</c:v>
                </c:pt>
              </c:numCache>
            </c:numRef>
          </c:val>
          <c:extLst>
            <c:ext xmlns:c16="http://schemas.microsoft.com/office/drawing/2014/chart" uri="{C3380CC4-5D6E-409C-BE32-E72D297353CC}">
              <c16:uniqueId val="{00000000-46FB-4B15-AA70-7DF6FAF6211A}"/>
            </c:ext>
          </c:extLst>
        </c:ser>
        <c:ser>
          <c:idx val="1"/>
          <c:order val="1"/>
          <c:tx>
            <c:strRef>
              <c:f>Sheet4!$D$2</c:f>
              <c:strCache>
                <c:ptCount val="1"/>
                <c:pt idx="0">
                  <c:v>shed</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Sheet4!$B$3:$B$8</c:f>
              <c:strCache>
                <c:ptCount val="6"/>
                <c:pt idx="0">
                  <c:v>cattle</c:v>
                </c:pt>
                <c:pt idx="1">
                  <c:v>goat</c:v>
                </c:pt>
                <c:pt idx="2">
                  <c:v>chicken</c:v>
                </c:pt>
                <c:pt idx="3">
                  <c:v>duck</c:v>
                </c:pt>
                <c:pt idx="4">
                  <c:v>sheep</c:v>
                </c:pt>
                <c:pt idx="5">
                  <c:v>pigeon</c:v>
                </c:pt>
              </c:strCache>
            </c:strRef>
          </c:cat>
          <c:val>
            <c:numRef>
              <c:f>Sheet4!$D$3:$D$8</c:f>
              <c:numCache>
                <c:formatCode>General</c:formatCode>
                <c:ptCount val="6"/>
                <c:pt idx="0">
                  <c:v>100</c:v>
                </c:pt>
                <c:pt idx="2">
                  <c:v>5</c:v>
                </c:pt>
                <c:pt idx="3">
                  <c:v>80</c:v>
                </c:pt>
                <c:pt idx="4">
                  <c:v>95</c:v>
                </c:pt>
                <c:pt idx="5">
                  <c:v>100</c:v>
                </c:pt>
              </c:numCache>
            </c:numRef>
          </c:val>
          <c:extLst>
            <c:ext xmlns:c16="http://schemas.microsoft.com/office/drawing/2014/chart" uri="{C3380CC4-5D6E-409C-BE32-E72D297353CC}">
              <c16:uniqueId val="{00000001-46FB-4B15-AA70-7DF6FAF6211A}"/>
            </c:ext>
          </c:extLst>
        </c:ser>
        <c:ser>
          <c:idx val="2"/>
          <c:order val="2"/>
          <c:tx>
            <c:strRef>
              <c:f>Sheet4!$E$2</c:f>
              <c:strCache>
                <c:ptCount val="1"/>
                <c:pt idx="0">
                  <c:v>paddock</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Sheet4!$B$3:$B$8</c:f>
              <c:strCache>
                <c:ptCount val="6"/>
                <c:pt idx="0">
                  <c:v>cattle</c:v>
                </c:pt>
                <c:pt idx="1">
                  <c:v>goat</c:v>
                </c:pt>
                <c:pt idx="2">
                  <c:v>chicken</c:v>
                </c:pt>
                <c:pt idx="3">
                  <c:v>duck</c:v>
                </c:pt>
                <c:pt idx="4">
                  <c:v>sheep</c:v>
                </c:pt>
                <c:pt idx="5">
                  <c:v>pigeon</c:v>
                </c:pt>
              </c:strCache>
            </c:strRef>
          </c:cat>
          <c:val>
            <c:numRef>
              <c:f>Sheet4!$E$3:$E$8</c:f>
              <c:numCache>
                <c:formatCode>General</c:formatCode>
                <c:ptCount val="6"/>
              </c:numCache>
            </c:numRef>
          </c:val>
          <c:extLst>
            <c:ext xmlns:c16="http://schemas.microsoft.com/office/drawing/2014/chart" uri="{C3380CC4-5D6E-409C-BE32-E72D297353CC}">
              <c16:uniqueId val="{00000002-46FB-4B15-AA70-7DF6FAF6211A}"/>
            </c:ext>
          </c:extLst>
        </c:ser>
        <c:ser>
          <c:idx val="3"/>
          <c:order val="3"/>
          <c:tx>
            <c:strRef>
              <c:f>Sheet4!$F$2</c:f>
              <c:strCache>
                <c:ptCount val="1"/>
                <c:pt idx="0">
                  <c:v>fence</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Sheet4!$B$3:$B$8</c:f>
              <c:strCache>
                <c:ptCount val="6"/>
                <c:pt idx="0">
                  <c:v>cattle</c:v>
                </c:pt>
                <c:pt idx="1">
                  <c:v>goat</c:v>
                </c:pt>
                <c:pt idx="2">
                  <c:v>chicken</c:v>
                </c:pt>
                <c:pt idx="3">
                  <c:v>duck</c:v>
                </c:pt>
                <c:pt idx="4">
                  <c:v>sheep</c:v>
                </c:pt>
                <c:pt idx="5">
                  <c:v>pigeon</c:v>
                </c:pt>
              </c:strCache>
            </c:strRef>
          </c:cat>
          <c:val>
            <c:numRef>
              <c:f>Sheet4!$F$3:$F$8</c:f>
              <c:numCache>
                <c:formatCode>General</c:formatCode>
                <c:ptCount val="6"/>
                <c:pt idx="1">
                  <c:v>90</c:v>
                </c:pt>
                <c:pt idx="3">
                  <c:v>20</c:v>
                </c:pt>
              </c:numCache>
            </c:numRef>
          </c:val>
          <c:extLst>
            <c:ext xmlns:c16="http://schemas.microsoft.com/office/drawing/2014/chart" uri="{C3380CC4-5D6E-409C-BE32-E72D297353CC}">
              <c16:uniqueId val="{00000003-46FB-4B15-AA70-7DF6FAF6211A}"/>
            </c:ext>
          </c:extLst>
        </c:ser>
        <c:dLbls>
          <c:showLegendKey val="0"/>
          <c:showVal val="1"/>
          <c:showCatName val="0"/>
          <c:showSerName val="0"/>
          <c:showPercent val="0"/>
          <c:showBubbleSize val="0"/>
        </c:dLbls>
        <c:gapWidth val="95"/>
        <c:gapDepth val="95"/>
        <c:shape val="box"/>
        <c:axId val="562902816"/>
        <c:axId val="562903176"/>
        <c:axId val="0"/>
        <c:extLst>
          <c:ext xmlns:c15="http://schemas.microsoft.com/office/drawing/2012/chart" uri="{02D57815-91ED-43cb-92C2-25804820EDAC}">
            <c15:filteredBarSeries>
              <c15:ser>
                <c:idx val="4"/>
                <c:order val="4"/>
                <c:tx>
                  <c:strRef>
                    <c:extLst>
                      <c:ext uri="{02D57815-91ED-43cb-92C2-25804820EDAC}">
                        <c15:formulaRef>
                          <c15:sqref>Sheet4!$G$2</c15:sqref>
                        </c15:formulaRef>
                      </c:ext>
                    </c:extLst>
                    <c:strCache>
                      <c:ptCount val="1"/>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a:solidFill>
                              <a:schemeClr val="tx2">
                                <a:lumMod val="35000"/>
                                <a:lumOff val="65000"/>
                              </a:schemeClr>
                            </a:solidFill>
                          </a:ln>
                          <a:effectLst/>
                        </c:spPr>
                      </c15:leaderLines>
                    </c:ext>
                  </c:extLst>
                </c:dLbls>
                <c:cat>
                  <c:strRef>
                    <c:extLst>
                      <c:ext uri="{02D57815-91ED-43cb-92C2-25804820EDAC}">
                        <c15:formulaRef>
                          <c15:sqref>Sheet4!$B$3:$B$8</c15:sqref>
                        </c15:formulaRef>
                      </c:ext>
                    </c:extLst>
                    <c:strCache>
                      <c:ptCount val="6"/>
                      <c:pt idx="0">
                        <c:v>cattle</c:v>
                      </c:pt>
                      <c:pt idx="1">
                        <c:v>goat</c:v>
                      </c:pt>
                      <c:pt idx="2">
                        <c:v>chicken</c:v>
                      </c:pt>
                      <c:pt idx="3">
                        <c:v>duck</c:v>
                      </c:pt>
                      <c:pt idx="4">
                        <c:v>sheep</c:v>
                      </c:pt>
                      <c:pt idx="5">
                        <c:v>pigeon</c:v>
                      </c:pt>
                    </c:strCache>
                  </c:strRef>
                </c:cat>
                <c:val>
                  <c:numRef>
                    <c:extLst>
                      <c:ext uri="{02D57815-91ED-43cb-92C2-25804820EDAC}">
                        <c15:formulaRef>
                          <c15:sqref>Sheet4!$G$3:$G$8</c15:sqref>
                        </c15:formulaRef>
                      </c:ext>
                    </c:extLst>
                    <c:numCache>
                      <c:formatCode>General</c:formatCode>
                      <c:ptCount val="6"/>
                    </c:numCache>
                  </c:numRef>
                </c:val>
                <c:extLst>
                  <c:ext xmlns:c16="http://schemas.microsoft.com/office/drawing/2014/chart" uri="{C3380CC4-5D6E-409C-BE32-E72D297353CC}">
                    <c16:uniqueId val="{00000004-46FB-4B15-AA70-7DF6FAF6211A}"/>
                  </c:ext>
                </c:extLst>
              </c15:ser>
            </c15:filteredBarSeries>
          </c:ext>
        </c:extLst>
      </c:bar3DChart>
      <c:catAx>
        <c:axId val="562902816"/>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562903176"/>
        <c:crosses val="autoZero"/>
        <c:auto val="1"/>
        <c:lblAlgn val="ctr"/>
        <c:lblOffset val="100"/>
        <c:noMultiLvlLbl val="0"/>
      </c:catAx>
      <c:valAx>
        <c:axId val="562903176"/>
        <c:scaling>
          <c:orientation val="minMax"/>
        </c:scaling>
        <c:delete val="1"/>
        <c:axPos val="l"/>
        <c:numFmt formatCode="0%" sourceLinked="1"/>
        <c:majorTickMark val="none"/>
        <c:minorTickMark val="none"/>
        <c:tickLblPos val="nextTo"/>
        <c:crossAx val="56290281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a:t>Breeding Practice</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024265430699645"/>
          <c:y val="0.22087892807104911"/>
          <c:w val="0.78902071902551985"/>
          <c:h val="0.59233853592835228"/>
        </c:manualLayout>
      </c:layout>
      <c:barChart>
        <c:barDir val="bar"/>
        <c:grouping val="clustered"/>
        <c:varyColors val="0"/>
        <c:ser>
          <c:idx val="0"/>
          <c:order val="0"/>
          <c:tx>
            <c:strRef>
              <c:f>Sheet7!$C$2</c:f>
              <c:strCache>
                <c:ptCount val="1"/>
                <c:pt idx="0">
                  <c:v>natural service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Sheet7!$B$3:$B$5</c:f>
              <c:strCache>
                <c:ptCount val="3"/>
                <c:pt idx="0">
                  <c:v>cattle</c:v>
                </c:pt>
                <c:pt idx="1">
                  <c:v>goat</c:v>
                </c:pt>
                <c:pt idx="2">
                  <c:v>Chicken</c:v>
                </c:pt>
              </c:strCache>
            </c:strRef>
          </c:cat>
          <c:val>
            <c:numRef>
              <c:f>Sheet7!$C$3:$C$5</c:f>
              <c:numCache>
                <c:formatCode>General</c:formatCode>
                <c:ptCount val="3"/>
                <c:pt idx="0">
                  <c:v>7</c:v>
                </c:pt>
                <c:pt idx="1">
                  <c:v>90</c:v>
                </c:pt>
                <c:pt idx="2">
                  <c:v>100</c:v>
                </c:pt>
              </c:numCache>
            </c:numRef>
          </c:val>
          <c:extLst>
            <c:ext xmlns:c16="http://schemas.microsoft.com/office/drawing/2014/chart" uri="{C3380CC4-5D6E-409C-BE32-E72D297353CC}">
              <c16:uniqueId val="{00000000-DF8E-4576-8450-9FBC0374ACE5}"/>
            </c:ext>
          </c:extLst>
        </c:ser>
        <c:ser>
          <c:idx val="1"/>
          <c:order val="1"/>
          <c:tx>
            <c:strRef>
              <c:f>Sheet7!$D$2</c:f>
              <c:strCache>
                <c:ptCount val="1"/>
                <c:pt idx="0">
                  <c:v>artificial isemination</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Sheet7!$B$3:$B$5</c:f>
              <c:strCache>
                <c:ptCount val="3"/>
                <c:pt idx="0">
                  <c:v>cattle</c:v>
                </c:pt>
                <c:pt idx="1">
                  <c:v>goat</c:v>
                </c:pt>
                <c:pt idx="2">
                  <c:v>Chicken</c:v>
                </c:pt>
              </c:strCache>
            </c:strRef>
          </c:cat>
          <c:val>
            <c:numRef>
              <c:f>Sheet7!$D$3:$D$5</c:f>
              <c:numCache>
                <c:formatCode>General</c:formatCode>
                <c:ptCount val="3"/>
                <c:pt idx="0">
                  <c:v>92</c:v>
                </c:pt>
                <c:pt idx="1">
                  <c:v>10</c:v>
                </c:pt>
              </c:numCache>
            </c:numRef>
          </c:val>
          <c:extLst>
            <c:ext xmlns:c16="http://schemas.microsoft.com/office/drawing/2014/chart" uri="{C3380CC4-5D6E-409C-BE32-E72D297353CC}">
              <c16:uniqueId val="{00000001-DF8E-4576-8450-9FBC0374ACE5}"/>
            </c:ext>
          </c:extLst>
        </c:ser>
        <c:ser>
          <c:idx val="2"/>
          <c:order val="2"/>
          <c:tx>
            <c:strRef>
              <c:f>Sheet7!$E$2</c:f>
              <c:strCache>
                <c:ptCount val="1"/>
                <c:pt idx="0">
                  <c:v>easy</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Sheet7!$B$3:$B$5</c:f>
              <c:strCache>
                <c:ptCount val="3"/>
                <c:pt idx="0">
                  <c:v>cattle</c:v>
                </c:pt>
                <c:pt idx="1">
                  <c:v>goat</c:v>
                </c:pt>
                <c:pt idx="2">
                  <c:v>Chicken</c:v>
                </c:pt>
              </c:strCache>
            </c:strRef>
          </c:cat>
          <c:val>
            <c:numRef>
              <c:f>Sheet7!$E$3:$E$5</c:f>
              <c:numCache>
                <c:formatCode>General</c:formatCode>
                <c:ptCount val="3"/>
                <c:pt idx="0">
                  <c:v>90</c:v>
                </c:pt>
                <c:pt idx="1">
                  <c:v>85</c:v>
                </c:pt>
              </c:numCache>
            </c:numRef>
          </c:val>
          <c:extLst>
            <c:ext xmlns:c16="http://schemas.microsoft.com/office/drawing/2014/chart" uri="{C3380CC4-5D6E-409C-BE32-E72D297353CC}">
              <c16:uniqueId val="{00000002-DF8E-4576-8450-9FBC0374ACE5}"/>
            </c:ext>
          </c:extLst>
        </c:ser>
        <c:ser>
          <c:idx val="3"/>
          <c:order val="3"/>
          <c:tx>
            <c:strRef>
              <c:f>Sheet7!$F$2</c:f>
              <c:strCache>
                <c:ptCount val="1"/>
                <c:pt idx="0">
                  <c:v>difficult</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Sheet7!$B$3:$B$5</c:f>
              <c:strCache>
                <c:ptCount val="3"/>
                <c:pt idx="0">
                  <c:v>cattle</c:v>
                </c:pt>
                <c:pt idx="1">
                  <c:v>goat</c:v>
                </c:pt>
                <c:pt idx="2">
                  <c:v>Chicken</c:v>
                </c:pt>
              </c:strCache>
            </c:strRef>
          </c:cat>
          <c:val>
            <c:numRef>
              <c:f>Sheet7!$F$3:$F$5</c:f>
              <c:numCache>
                <c:formatCode>General</c:formatCode>
                <c:ptCount val="3"/>
                <c:pt idx="0">
                  <c:v>10</c:v>
                </c:pt>
                <c:pt idx="1">
                  <c:v>15</c:v>
                </c:pt>
              </c:numCache>
            </c:numRef>
          </c:val>
          <c:extLst>
            <c:ext xmlns:c16="http://schemas.microsoft.com/office/drawing/2014/chart" uri="{C3380CC4-5D6E-409C-BE32-E72D297353CC}">
              <c16:uniqueId val="{00000003-DF8E-4576-8450-9FBC0374ACE5}"/>
            </c:ext>
          </c:extLst>
        </c:ser>
        <c:dLbls>
          <c:showLegendKey val="0"/>
          <c:showVal val="1"/>
          <c:showCatName val="0"/>
          <c:showSerName val="0"/>
          <c:showPercent val="0"/>
          <c:showBubbleSize val="0"/>
        </c:dLbls>
        <c:gapWidth val="115"/>
        <c:overlap val="-20"/>
        <c:axId val="486111568"/>
        <c:axId val="486105448"/>
        <c:extLst>
          <c:ext xmlns:c15="http://schemas.microsoft.com/office/drawing/2012/chart" uri="{02D57815-91ED-43cb-92C2-25804820EDAC}">
            <c15:filteredBarSeries>
              <c15:ser>
                <c:idx val="4"/>
                <c:order val="4"/>
                <c:tx>
                  <c:strRef>
                    <c:extLst>
                      <c:ext uri="{02D57815-91ED-43cb-92C2-25804820EDAC}">
                        <c15:formulaRef>
                          <c15:sqref>Sheet7!$G$2</c15:sqref>
                        </c15:formulaRef>
                      </c:ext>
                    </c:extLst>
                    <c:strCache>
                      <c:ptCount val="1"/>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Sheet7!$B$3:$B$5</c15:sqref>
                        </c15:formulaRef>
                      </c:ext>
                    </c:extLst>
                    <c:strCache>
                      <c:ptCount val="3"/>
                      <c:pt idx="0">
                        <c:v>cattle</c:v>
                      </c:pt>
                      <c:pt idx="1">
                        <c:v>goat</c:v>
                      </c:pt>
                      <c:pt idx="2">
                        <c:v>Chicken</c:v>
                      </c:pt>
                    </c:strCache>
                  </c:strRef>
                </c:cat>
                <c:val>
                  <c:numRef>
                    <c:extLst>
                      <c:ext uri="{02D57815-91ED-43cb-92C2-25804820EDAC}">
                        <c15:formulaRef>
                          <c15:sqref>Sheet7!$G$3:$G$5</c15:sqref>
                        </c15:formulaRef>
                      </c:ext>
                    </c:extLst>
                    <c:numCache>
                      <c:formatCode>General</c:formatCode>
                      <c:ptCount val="3"/>
                    </c:numCache>
                  </c:numRef>
                </c:val>
                <c:extLst>
                  <c:ext xmlns:c16="http://schemas.microsoft.com/office/drawing/2014/chart" uri="{C3380CC4-5D6E-409C-BE32-E72D297353CC}">
                    <c16:uniqueId val="{00000004-DF8E-4576-8450-9FBC0374ACE5}"/>
                  </c:ext>
                </c:extLst>
              </c15:ser>
            </c15:filteredBarSeries>
          </c:ext>
        </c:extLst>
      </c:barChart>
      <c:catAx>
        <c:axId val="486111568"/>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86105448"/>
        <c:crosses val="autoZero"/>
        <c:auto val="1"/>
        <c:lblAlgn val="ctr"/>
        <c:lblOffset val="100"/>
        <c:noMultiLvlLbl val="0"/>
      </c:catAx>
      <c:valAx>
        <c:axId val="48610544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861115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r>
              <a:rPr lang="en-US"/>
              <a:t>Disease</a:t>
            </a:r>
            <a:r>
              <a:rPr lang="en-US" baseline="0"/>
              <a:t> of cattle</a:t>
            </a:r>
            <a:endParaRPr lang="en-US"/>
          </a:p>
        </c:rich>
      </c:tx>
      <c:layout>
        <c:manualLayout>
          <c:xMode val="edge"/>
          <c:yMode val="edge"/>
          <c:x val="0.62953850119548915"/>
          <c:y val="4.0556423078979012E-2"/>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endParaRPr lang="en-US"/>
        </a:p>
      </c:txPr>
    </c:title>
    <c:autoTitleDeleted val="0"/>
    <c:plotArea>
      <c:layout/>
      <c:pieChart>
        <c:varyColors val="1"/>
        <c:ser>
          <c:idx val="0"/>
          <c:order val="0"/>
          <c:tx>
            <c:strRef>
              <c:f>Sheet14!$C$2</c:f>
              <c:strCache>
                <c:ptCount val="1"/>
              </c:strCache>
            </c:strRef>
          </c:tx>
          <c:dPt>
            <c:idx val="0"/>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7E64-4AA2-9CB0-277FC1A2CAC5}"/>
              </c:ext>
            </c:extLst>
          </c:dPt>
          <c:dPt>
            <c:idx val="1"/>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7E64-4AA2-9CB0-277FC1A2CAC5}"/>
              </c:ext>
            </c:extLst>
          </c:dPt>
          <c:dPt>
            <c:idx val="2"/>
            <c:bubble3D val="0"/>
            <c:spPr>
              <a:solidFill>
                <a:schemeClr val="accent6"/>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7E64-4AA2-9CB0-277FC1A2CAC5}"/>
              </c:ext>
            </c:extLst>
          </c:dPt>
          <c:dPt>
            <c:idx val="3"/>
            <c:bubble3D val="0"/>
            <c:spPr>
              <a:solidFill>
                <a:schemeClr val="accent2">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7-7E64-4AA2-9CB0-277FC1A2CAC5}"/>
              </c:ext>
            </c:extLst>
          </c:dPt>
          <c:dPt>
            <c:idx val="4"/>
            <c:bubble3D val="0"/>
            <c:spPr>
              <a:solidFill>
                <a:schemeClr val="accent4">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9-7E64-4AA2-9CB0-277FC1A2CAC5}"/>
              </c:ext>
            </c:extLst>
          </c:dPt>
          <c:dPt>
            <c:idx val="5"/>
            <c:bubble3D val="0"/>
            <c:spPr>
              <a:solidFill>
                <a:schemeClr val="accent6">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B-7E64-4AA2-9CB0-277FC1A2CAC5}"/>
              </c:ext>
            </c:extLst>
          </c:dPt>
          <c:dPt>
            <c:idx val="6"/>
            <c:bubble3D val="0"/>
            <c:spPr>
              <a:solidFill>
                <a:schemeClr val="accent2">
                  <a:lumMod val="80000"/>
                  <a:lumOff val="2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D-7E64-4AA2-9CB0-277FC1A2CAC5}"/>
              </c:ext>
            </c:extLst>
          </c:dPt>
          <c:dPt>
            <c:idx val="7"/>
            <c:bubble3D val="0"/>
            <c:spPr>
              <a:solidFill>
                <a:schemeClr val="accent4">
                  <a:lumMod val="80000"/>
                  <a:lumOff val="2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F-7E64-4AA2-9CB0-277FC1A2CAC5}"/>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Sheet14!$B$3:$B$10</c:f>
              <c:strCache>
                <c:ptCount val="5"/>
                <c:pt idx="0">
                  <c:v>Allergy</c:v>
                </c:pt>
                <c:pt idx="1">
                  <c:v>FMD</c:v>
                </c:pt>
                <c:pt idx="2">
                  <c:v>Worm</c:v>
                </c:pt>
                <c:pt idx="3">
                  <c:v>LSD</c:v>
                </c:pt>
                <c:pt idx="4">
                  <c:v>Mastitis</c:v>
                </c:pt>
              </c:strCache>
            </c:strRef>
          </c:cat>
          <c:val>
            <c:numRef>
              <c:f>Sheet14!$C$3:$C$10</c:f>
              <c:numCache>
                <c:formatCode>General</c:formatCode>
                <c:ptCount val="8"/>
                <c:pt idx="0">
                  <c:v>30</c:v>
                </c:pt>
                <c:pt idx="1">
                  <c:v>52</c:v>
                </c:pt>
                <c:pt idx="2">
                  <c:v>34</c:v>
                </c:pt>
                <c:pt idx="3">
                  <c:v>70</c:v>
                </c:pt>
                <c:pt idx="4">
                  <c:v>20</c:v>
                </c:pt>
              </c:numCache>
            </c:numRef>
          </c:val>
          <c:extLst>
            <c:ext xmlns:c16="http://schemas.microsoft.com/office/drawing/2014/chart" uri="{C3380CC4-5D6E-409C-BE32-E72D297353CC}">
              <c16:uniqueId val="{00000010-7E64-4AA2-9CB0-277FC1A2CAC5}"/>
            </c:ext>
          </c:extLst>
        </c:ser>
        <c:dLbls>
          <c:dLblPos val="inEnd"/>
          <c:showLegendKey val="0"/>
          <c:showVal val="0"/>
          <c:showCatName val="0"/>
          <c:showSerName val="0"/>
          <c:showPercent val="1"/>
          <c:showBubbleSize val="0"/>
          <c:showLeaderLines val="1"/>
        </c:dLbls>
        <c:firstSliceAng val="0"/>
        <c:extLst>
          <c:ext xmlns:c15="http://schemas.microsoft.com/office/drawing/2012/chart" uri="{02D57815-91ED-43cb-92C2-25804820EDAC}">
            <c15:filteredPieSeries>
              <c15:ser>
                <c:idx val="1"/>
                <c:order val="1"/>
                <c:tx>
                  <c:strRef>
                    <c:extLst>
                      <c:ext uri="{02D57815-91ED-43cb-92C2-25804820EDAC}">
                        <c15:formulaRef>
                          <c15:sqref>Sheet14!$D$2</c15:sqref>
                        </c15:formulaRef>
                      </c:ext>
                    </c:extLst>
                    <c:strCache>
                      <c:ptCount val="1"/>
                    </c:strCache>
                  </c:strRef>
                </c:tx>
                <c:dPt>
                  <c:idx val="0"/>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12-7E64-4AA2-9CB0-277FC1A2CAC5}"/>
                    </c:ext>
                  </c:extLst>
                </c:dPt>
                <c:dPt>
                  <c:idx val="1"/>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14-7E64-4AA2-9CB0-277FC1A2CAC5}"/>
                    </c:ext>
                  </c:extLst>
                </c:dPt>
                <c:dPt>
                  <c:idx val="2"/>
                  <c:bubble3D val="0"/>
                  <c:spPr>
                    <a:solidFill>
                      <a:schemeClr val="accent6"/>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16-7E64-4AA2-9CB0-277FC1A2CAC5}"/>
                    </c:ext>
                  </c:extLst>
                </c:dPt>
                <c:dPt>
                  <c:idx val="3"/>
                  <c:bubble3D val="0"/>
                  <c:spPr>
                    <a:solidFill>
                      <a:schemeClr val="accent2">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18-7E64-4AA2-9CB0-277FC1A2CAC5}"/>
                    </c:ext>
                  </c:extLst>
                </c:dPt>
                <c:dPt>
                  <c:idx val="4"/>
                  <c:bubble3D val="0"/>
                  <c:spPr>
                    <a:solidFill>
                      <a:schemeClr val="accent4">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1A-7E64-4AA2-9CB0-277FC1A2CAC5}"/>
                    </c:ext>
                  </c:extLst>
                </c:dPt>
                <c:dPt>
                  <c:idx val="5"/>
                  <c:bubble3D val="0"/>
                  <c:spPr>
                    <a:solidFill>
                      <a:schemeClr val="accent6">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1C-7E64-4AA2-9CB0-277FC1A2CAC5}"/>
                    </c:ext>
                  </c:extLst>
                </c:dPt>
                <c:dPt>
                  <c:idx val="6"/>
                  <c:bubble3D val="0"/>
                  <c:spPr>
                    <a:solidFill>
                      <a:schemeClr val="accent2">
                        <a:lumMod val="80000"/>
                        <a:lumOff val="2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1E-7E64-4AA2-9CB0-277FC1A2CAC5}"/>
                    </c:ext>
                  </c:extLst>
                </c:dPt>
                <c:dPt>
                  <c:idx val="7"/>
                  <c:bubble3D val="0"/>
                  <c:spPr>
                    <a:solidFill>
                      <a:schemeClr val="accent4">
                        <a:lumMod val="80000"/>
                        <a:lumOff val="2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20-7E64-4AA2-9CB0-277FC1A2CAC5}"/>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uri="{CE6537A1-D6FC-4f65-9D91-7224C49458BB}"/>
                  </c:extLst>
                </c:dLbls>
                <c:cat>
                  <c:strRef>
                    <c:extLst>
                      <c:ext uri="{02D57815-91ED-43cb-92C2-25804820EDAC}">
                        <c15:formulaRef>
                          <c15:sqref>Sheet14!$B$3:$B$10</c15:sqref>
                        </c15:formulaRef>
                      </c:ext>
                    </c:extLst>
                    <c:strCache>
                      <c:ptCount val="5"/>
                      <c:pt idx="0">
                        <c:v>Allergy</c:v>
                      </c:pt>
                      <c:pt idx="1">
                        <c:v>FMD</c:v>
                      </c:pt>
                      <c:pt idx="2">
                        <c:v>Worm</c:v>
                      </c:pt>
                      <c:pt idx="3">
                        <c:v>LSD</c:v>
                      </c:pt>
                      <c:pt idx="4">
                        <c:v>Mastitis</c:v>
                      </c:pt>
                    </c:strCache>
                  </c:strRef>
                </c:cat>
                <c:val>
                  <c:numRef>
                    <c:extLst>
                      <c:ext uri="{02D57815-91ED-43cb-92C2-25804820EDAC}">
                        <c15:formulaRef>
                          <c15:sqref>Sheet14!$D$3:$D$10</c15:sqref>
                        </c15:formulaRef>
                      </c:ext>
                    </c:extLst>
                    <c:numCache>
                      <c:formatCode>General</c:formatCode>
                      <c:ptCount val="8"/>
                    </c:numCache>
                  </c:numRef>
                </c:val>
                <c:extLst>
                  <c:ext xmlns:c16="http://schemas.microsoft.com/office/drawing/2014/chart" uri="{C3380CC4-5D6E-409C-BE32-E72D297353CC}">
                    <c16:uniqueId val="{00000021-7E64-4AA2-9CB0-277FC1A2CAC5}"/>
                  </c:ext>
                </c:extLst>
              </c15:ser>
            </c15:filteredPieSeries>
          </c:ext>
        </c:extLst>
      </c:pieChart>
      <c:spPr>
        <a:noFill/>
        <a:ln>
          <a:noFill/>
        </a:ln>
        <a:effectLst/>
      </c:spPr>
    </c:plotArea>
    <c:legend>
      <c:legendPos val="b"/>
      <c:legendEntry>
        <c:idx val="5"/>
        <c:delete val="1"/>
      </c:legendEntry>
      <c:legendEntry>
        <c:idx val="6"/>
        <c:delete val="1"/>
      </c:legendEntry>
      <c:legendEntry>
        <c:idx val="7"/>
        <c:delete val="1"/>
      </c:legendEntry>
      <c:overlay val="0"/>
      <c:spPr>
        <a:solidFill>
          <a:schemeClr val="lt1">
            <a:alpha val="78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percentage of Desi &amp; Cross</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manualLayout>
          <c:layoutTarget val="inner"/>
          <c:xMode val="edge"/>
          <c:yMode val="edge"/>
          <c:x val="3.0555555555555555E-2"/>
          <c:y val="0.19169036162146399"/>
          <c:w val="0.93888888888888888"/>
          <c:h val="0.61228310002916297"/>
        </c:manualLayout>
      </c:layout>
      <c:barChart>
        <c:barDir val="col"/>
        <c:grouping val="clustered"/>
        <c:varyColors val="0"/>
        <c:ser>
          <c:idx val="0"/>
          <c:order val="0"/>
          <c:tx>
            <c:strRef>
              <c:f>Sheet2!$C$1</c:f>
              <c:strCache>
                <c:ptCount val="1"/>
                <c:pt idx="0">
                  <c:v>deshi</c:v>
                </c:pt>
              </c:strCache>
            </c:strRef>
          </c:tx>
          <c:spPr>
            <a:solidFill>
              <a:schemeClr val="accent1">
                <a:alpha val="85000"/>
              </a:schemeClr>
            </a:solidFill>
            <a:ln w="9525" cap="flat" cmpd="sng" algn="ctr">
              <a:solidFill>
                <a:schemeClr val="lt1">
                  <a:alpha val="50000"/>
                </a:schemeClr>
              </a:solidFill>
              <a:round/>
            </a:ln>
            <a:effectLst/>
          </c:spPr>
          <c:invertIfNegative val="0"/>
          <c:dLbls>
            <c:dLbl>
              <c:idx val="0"/>
              <c:tx>
                <c:rich>
                  <a:bodyPr/>
                  <a:lstStyle/>
                  <a:p>
                    <a:r>
                      <a:rPr lang="en-US"/>
                      <a:t>68%</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380-4167-880C-3BD3551C7618}"/>
                </c:ext>
              </c:extLst>
            </c:dLbl>
            <c:dLbl>
              <c:idx val="1"/>
              <c:tx>
                <c:rich>
                  <a:bodyPr/>
                  <a:lstStyle/>
                  <a:p>
                    <a:r>
                      <a:rPr lang="en-US"/>
                      <a:t>82%</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380-4167-880C-3BD3551C7618}"/>
                </c:ext>
              </c:extLst>
            </c:dLbl>
            <c:dLbl>
              <c:idx val="2"/>
              <c:tx>
                <c:rich>
                  <a:bodyPr/>
                  <a:lstStyle/>
                  <a:p>
                    <a:r>
                      <a:rPr lang="en-US"/>
                      <a:t>90%</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380-4167-880C-3BD3551C7618}"/>
                </c:ext>
              </c:extLst>
            </c:dLbl>
            <c:dLbl>
              <c:idx val="3"/>
              <c:tx>
                <c:rich>
                  <a:bodyPr/>
                  <a:lstStyle/>
                  <a:p>
                    <a:r>
                      <a:rPr lang="en-US"/>
                      <a:t>85%</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380-4167-880C-3BD3551C7618}"/>
                </c:ext>
              </c:extLst>
            </c:dLbl>
            <c:dLbl>
              <c:idx val="4"/>
              <c:tx>
                <c:rich>
                  <a:bodyPr/>
                  <a:lstStyle/>
                  <a:p>
                    <a:r>
                      <a:rPr lang="en-US"/>
                      <a:t>92%</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3380-4167-880C-3BD3551C7618}"/>
                </c:ext>
              </c:extLst>
            </c:dLbl>
            <c:dLbl>
              <c:idx val="5"/>
              <c:tx>
                <c:rich>
                  <a:bodyPr/>
                  <a:lstStyle/>
                  <a:p>
                    <a:r>
                      <a:rPr lang="en-US"/>
                      <a:t>75%</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380-4167-880C-3BD3551C7618}"/>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Sheet2!$B$2:$B$7</c:f>
              <c:strCache>
                <c:ptCount val="6"/>
                <c:pt idx="0">
                  <c:v>cattle</c:v>
                </c:pt>
                <c:pt idx="1">
                  <c:v>goat</c:v>
                </c:pt>
                <c:pt idx="2">
                  <c:v>chicken</c:v>
                </c:pt>
                <c:pt idx="3">
                  <c:v>duck</c:v>
                </c:pt>
                <c:pt idx="4">
                  <c:v>sheep</c:v>
                </c:pt>
                <c:pt idx="5">
                  <c:v>pigeon</c:v>
                </c:pt>
              </c:strCache>
            </c:strRef>
          </c:cat>
          <c:val>
            <c:numRef>
              <c:f>Sheet2!$C$2:$C$7</c:f>
              <c:numCache>
                <c:formatCode>0%</c:formatCode>
                <c:ptCount val="6"/>
                <c:pt idx="0">
                  <c:v>68</c:v>
                </c:pt>
                <c:pt idx="1">
                  <c:v>82</c:v>
                </c:pt>
                <c:pt idx="2">
                  <c:v>90</c:v>
                </c:pt>
                <c:pt idx="3" formatCode="General">
                  <c:v>85</c:v>
                </c:pt>
                <c:pt idx="4" formatCode="General">
                  <c:v>92</c:v>
                </c:pt>
                <c:pt idx="5" formatCode="General">
                  <c:v>75</c:v>
                </c:pt>
              </c:numCache>
            </c:numRef>
          </c:val>
          <c:extLst>
            <c:ext xmlns:c16="http://schemas.microsoft.com/office/drawing/2014/chart" uri="{C3380CC4-5D6E-409C-BE32-E72D297353CC}">
              <c16:uniqueId val="{00000006-3380-4167-880C-3BD3551C7618}"/>
            </c:ext>
          </c:extLst>
        </c:ser>
        <c:ser>
          <c:idx val="1"/>
          <c:order val="1"/>
          <c:tx>
            <c:strRef>
              <c:f>Sheet2!$D$1</c:f>
              <c:strCache>
                <c:ptCount val="1"/>
                <c:pt idx="0">
                  <c:v>cross</c:v>
                </c:pt>
              </c:strCache>
            </c:strRef>
          </c:tx>
          <c:spPr>
            <a:solidFill>
              <a:schemeClr val="accent2">
                <a:alpha val="85000"/>
              </a:schemeClr>
            </a:solidFill>
            <a:ln w="9525" cap="flat" cmpd="sng" algn="ctr">
              <a:solidFill>
                <a:schemeClr val="lt1">
                  <a:alpha val="50000"/>
                </a:schemeClr>
              </a:solidFill>
              <a:round/>
            </a:ln>
            <a:effectLst/>
          </c:spPr>
          <c:invertIfNegative val="0"/>
          <c:dLbls>
            <c:dLbl>
              <c:idx val="0"/>
              <c:tx>
                <c:rich>
                  <a:bodyPr/>
                  <a:lstStyle/>
                  <a:p>
                    <a:r>
                      <a:rPr lang="en-US"/>
                      <a:t>38%</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3380-4167-880C-3BD3551C7618}"/>
                </c:ext>
              </c:extLst>
            </c:dLbl>
            <c:dLbl>
              <c:idx val="1"/>
              <c:tx>
                <c:rich>
                  <a:bodyPr/>
                  <a:lstStyle/>
                  <a:p>
                    <a:r>
                      <a:rPr lang="en-US"/>
                      <a:t>18%</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3380-4167-880C-3BD3551C7618}"/>
                </c:ext>
              </c:extLst>
            </c:dLbl>
            <c:dLbl>
              <c:idx val="2"/>
              <c:tx>
                <c:rich>
                  <a:bodyPr/>
                  <a:lstStyle/>
                  <a:p>
                    <a:r>
                      <a:rPr lang="en-US"/>
                      <a:t>10%</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3380-4167-880C-3BD3551C7618}"/>
                </c:ext>
              </c:extLst>
            </c:dLbl>
            <c:dLbl>
              <c:idx val="3"/>
              <c:tx>
                <c:rich>
                  <a:bodyPr/>
                  <a:lstStyle/>
                  <a:p>
                    <a:r>
                      <a:rPr lang="en-US"/>
                      <a:t>15%</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3380-4167-880C-3BD3551C7618}"/>
                </c:ext>
              </c:extLst>
            </c:dLbl>
            <c:dLbl>
              <c:idx val="4"/>
              <c:tx>
                <c:rich>
                  <a:bodyPr/>
                  <a:lstStyle/>
                  <a:p>
                    <a:fld id="{8E973AF8-6D0A-4D92-8567-96BD1D44373F}" type="VALUE">
                      <a:rPr lang="en-US"/>
                      <a:pPr/>
                      <a:t>[VALUE]</a:t>
                    </a:fld>
                    <a:r>
                      <a:rPr lang="en-US"/>
                      <a:t>%</a:t>
                    </a:r>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3380-4167-880C-3BD3551C7618}"/>
                </c:ext>
              </c:extLst>
            </c:dLbl>
            <c:dLbl>
              <c:idx val="5"/>
              <c:tx>
                <c:rich>
                  <a:bodyPr/>
                  <a:lstStyle/>
                  <a:p>
                    <a:r>
                      <a:rPr lang="en-US"/>
                      <a:t>25%</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3380-4167-880C-3BD3551C7618}"/>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Sheet2!$B$2:$B$7</c:f>
              <c:strCache>
                <c:ptCount val="6"/>
                <c:pt idx="0">
                  <c:v>cattle</c:v>
                </c:pt>
                <c:pt idx="1">
                  <c:v>goat</c:v>
                </c:pt>
                <c:pt idx="2">
                  <c:v>chicken</c:v>
                </c:pt>
                <c:pt idx="3">
                  <c:v>duck</c:v>
                </c:pt>
                <c:pt idx="4">
                  <c:v>sheep</c:v>
                </c:pt>
                <c:pt idx="5">
                  <c:v>pigeon</c:v>
                </c:pt>
              </c:strCache>
            </c:strRef>
          </c:cat>
          <c:val>
            <c:numRef>
              <c:f>Sheet2!$D$2:$D$7</c:f>
              <c:numCache>
                <c:formatCode>0%</c:formatCode>
                <c:ptCount val="6"/>
                <c:pt idx="0">
                  <c:v>38</c:v>
                </c:pt>
                <c:pt idx="1">
                  <c:v>18</c:v>
                </c:pt>
                <c:pt idx="2" formatCode="General">
                  <c:v>10</c:v>
                </c:pt>
                <c:pt idx="3" formatCode="General">
                  <c:v>15</c:v>
                </c:pt>
                <c:pt idx="4" formatCode="General">
                  <c:v>8</c:v>
                </c:pt>
                <c:pt idx="5" formatCode="General">
                  <c:v>25</c:v>
                </c:pt>
              </c:numCache>
            </c:numRef>
          </c:val>
          <c:extLst>
            <c:ext xmlns:c16="http://schemas.microsoft.com/office/drawing/2014/chart" uri="{C3380CC4-5D6E-409C-BE32-E72D297353CC}">
              <c16:uniqueId val="{0000000D-3380-4167-880C-3BD3551C7618}"/>
            </c:ext>
          </c:extLst>
        </c:ser>
        <c:dLbls>
          <c:dLblPos val="inEnd"/>
          <c:showLegendKey val="0"/>
          <c:showVal val="1"/>
          <c:showCatName val="0"/>
          <c:showSerName val="0"/>
          <c:showPercent val="0"/>
          <c:showBubbleSize val="0"/>
        </c:dLbls>
        <c:gapWidth val="65"/>
        <c:axId val="500694928"/>
        <c:axId val="500693488"/>
      </c:barChart>
      <c:catAx>
        <c:axId val="500694928"/>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500693488"/>
        <c:crosses val="autoZero"/>
        <c:auto val="1"/>
        <c:lblAlgn val="ctr"/>
        <c:lblOffset val="100"/>
        <c:noMultiLvlLbl val="0"/>
      </c:catAx>
      <c:valAx>
        <c:axId val="500693488"/>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 sourceLinked="1"/>
        <c:majorTickMark val="none"/>
        <c:minorTickMark val="none"/>
        <c:tickLblPos val="nextTo"/>
        <c:crossAx val="500694928"/>
        <c:crosses val="autoZero"/>
        <c:crossBetween val="between"/>
      </c:valAx>
      <c:spPr>
        <a:noFill/>
        <a:ln>
          <a:noFill/>
        </a:ln>
        <a:effectLst/>
      </c:spPr>
    </c:plotArea>
    <c:legend>
      <c:legendPos val="b"/>
      <c:layout>
        <c:manualLayout>
          <c:xMode val="edge"/>
          <c:yMode val="edge"/>
          <c:x val="0.40606408573928254"/>
          <c:y val="0.90798556430446198"/>
          <c:w val="0.19342716535433072"/>
          <c:h val="7.8125546806649182E-2"/>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dirty="0"/>
              <a:t>Animal Health</a:t>
            </a:r>
          </a:p>
        </c:rich>
      </c:tx>
      <c:layout>
        <c:manualLayout>
          <c:xMode val="edge"/>
          <c:yMode val="edge"/>
          <c:x val="0.38806233595800527"/>
          <c:y val="2.777777777777777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4914260717410336E-2"/>
          <c:y val="0.19949074074074077"/>
          <c:w val="0.90286351706036749"/>
          <c:h val="0.61498432487605714"/>
        </c:manualLayout>
      </c:layout>
      <c:barChart>
        <c:barDir val="col"/>
        <c:grouping val="clustered"/>
        <c:varyColors val="0"/>
        <c:ser>
          <c:idx val="0"/>
          <c:order val="0"/>
          <c:tx>
            <c:strRef>
              <c:f>Sheet10!$C$2</c:f>
              <c:strCache>
                <c:ptCount val="1"/>
                <c:pt idx="0">
                  <c:v>vaccination</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Sheet10!$B$3:$B$6</c:f>
              <c:strCache>
                <c:ptCount val="3"/>
                <c:pt idx="0">
                  <c:v>cattle</c:v>
                </c:pt>
                <c:pt idx="1">
                  <c:v>goat</c:v>
                </c:pt>
                <c:pt idx="2">
                  <c:v>chicken</c:v>
                </c:pt>
              </c:strCache>
            </c:strRef>
          </c:cat>
          <c:val>
            <c:numRef>
              <c:f>Sheet10!$C$3:$C$6</c:f>
              <c:numCache>
                <c:formatCode>General</c:formatCode>
                <c:ptCount val="4"/>
                <c:pt idx="0">
                  <c:v>83</c:v>
                </c:pt>
                <c:pt idx="2">
                  <c:v>55</c:v>
                </c:pt>
              </c:numCache>
            </c:numRef>
          </c:val>
          <c:extLst>
            <c:ext xmlns:c16="http://schemas.microsoft.com/office/drawing/2014/chart" uri="{C3380CC4-5D6E-409C-BE32-E72D297353CC}">
              <c16:uniqueId val="{00000000-F2C3-431A-9A40-01EC4A59F76E}"/>
            </c:ext>
          </c:extLst>
        </c:ser>
        <c:ser>
          <c:idx val="1"/>
          <c:order val="1"/>
          <c:tx>
            <c:strRef>
              <c:f>Sheet10!$D$2</c:f>
              <c:strCache>
                <c:ptCount val="1"/>
                <c:pt idx="0">
                  <c:v>medication</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Sheet10!$B$3:$B$6</c:f>
              <c:strCache>
                <c:ptCount val="3"/>
                <c:pt idx="0">
                  <c:v>cattle</c:v>
                </c:pt>
                <c:pt idx="1">
                  <c:v>goat</c:v>
                </c:pt>
                <c:pt idx="2">
                  <c:v>chicken</c:v>
                </c:pt>
              </c:strCache>
            </c:strRef>
          </c:cat>
          <c:val>
            <c:numRef>
              <c:f>Sheet10!$D$3:$D$6</c:f>
              <c:numCache>
                <c:formatCode>General</c:formatCode>
                <c:ptCount val="4"/>
                <c:pt idx="0">
                  <c:v>76</c:v>
                </c:pt>
                <c:pt idx="1">
                  <c:v>65</c:v>
                </c:pt>
                <c:pt idx="2">
                  <c:v>37</c:v>
                </c:pt>
              </c:numCache>
            </c:numRef>
          </c:val>
          <c:extLst>
            <c:ext xmlns:c16="http://schemas.microsoft.com/office/drawing/2014/chart" uri="{C3380CC4-5D6E-409C-BE32-E72D297353CC}">
              <c16:uniqueId val="{00000001-F2C3-431A-9A40-01EC4A59F76E}"/>
            </c:ext>
          </c:extLst>
        </c:ser>
        <c:ser>
          <c:idx val="2"/>
          <c:order val="2"/>
          <c:tx>
            <c:strRef>
              <c:f>Sheet10!$E$2</c:f>
              <c:strCache>
                <c:ptCount val="1"/>
                <c:pt idx="0">
                  <c:v>govt veterinarian</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Sheet10!$B$3:$B$6</c:f>
              <c:strCache>
                <c:ptCount val="3"/>
                <c:pt idx="0">
                  <c:v>cattle</c:v>
                </c:pt>
                <c:pt idx="1">
                  <c:v>goat</c:v>
                </c:pt>
                <c:pt idx="2">
                  <c:v>chicken</c:v>
                </c:pt>
              </c:strCache>
            </c:strRef>
          </c:cat>
          <c:val>
            <c:numRef>
              <c:f>Sheet10!$E$3:$E$6</c:f>
              <c:numCache>
                <c:formatCode>General</c:formatCode>
                <c:ptCount val="4"/>
                <c:pt idx="0">
                  <c:v>50</c:v>
                </c:pt>
                <c:pt idx="1">
                  <c:v>35</c:v>
                </c:pt>
              </c:numCache>
            </c:numRef>
          </c:val>
          <c:extLst>
            <c:ext xmlns:c16="http://schemas.microsoft.com/office/drawing/2014/chart" uri="{C3380CC4-5D6E-409C-BE32-E72D297353CC}">
              <c16:uniqueId val="{00000002-F2C3-431A-9A40-01EC4A59F76E}"/>
            </c:ext>
          </c:extLst>
        </c:ser>
        <c:ser>
          <c:idx val="3"/>
          <c:order val="3"/>
          <c:tx>
            <c:strRef>
              <c:f>Sheet10!$F$2</c:f>
              <c:strCache>
                <c:ptCount val="1"/>
                <c:pt idx="0">
                  <c:v>NGO</c:v>
                </c:pt>
              </c:strCache>
            </c:strRef>
          </c:tx>
          <c:spPr>
            <a:solidFill>
              <a:schemeClr val="accent2">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Sheet10!$B$3:$B$6</c:f>
              <c:strCache>
                <c:ptCount val="3"/>
                <c:pt idx="0">
                  <c:v>cattle</c:v>
                </c:pt>
                <c:pt idx="1">
                  <c:v>goat</c:v>
                </c:pt>
                <c:pt idx="2">
                  <c:v>chicken</c:v>
                </c:pt>
              </c:strCache>
            </c:strRef>
          </c:cat>
          <c:val>
            <c:numRef>
              <c:f>Sheet10!$F$3:$F$6</c:f>
              <c:numCache>
                <c:formatCode>General</c:formatCode>
                <c:ptCount val="4"/>
                <c:pt idx="0">
                  <c:v>40</c:v>
                </c:pt>
                <c:pt idx="1">
                  <c:v>62</c:v>
                </c:pt>
              </c:numCache>
            </c:numRef>
          </c:val>
          <c:extLst>
            <c:ext xmlns:c16="http://schemas.microsoft.com/office/drawing/2014/chart" uri="{C3380CC4-5D6E-409C-BE32-E72D297353CC}">
              <c16:uniqueId val="{00000003-F2C3-431A-9A40-01EC4A59F76E}"/>
            </c:ext>
          </c:extLst>
        </c:ser>
        <c:ser>
          <c:idx val="4"/>
          <c:order val="4"/>
          <c:tx>
            <c:strRef>
              <c:f>Sheet10!$G$2</c:f>
              <c:strCache>
                <c:ptCount val="1"/>
                <c:pt idx="0">
                  <c:v>Quack</c:v>
                </c:pt>
              </c:strCache>
            </c:strRef>
          </c:tx>
          <c:spPr>
            <a:solidFill>
              <a:schemeClr val="accent4">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Sheet10!$B$3:$B$6</c:f>
              <c:strCache>
                <c:ptCount val="3"/>
                <c:pt idx="0">
                  <c:v>cattle</c:v>
                </c:pt>
                <c:pt idx="1">
                  <c:v>goat</c:v>
                </c:pt>
                <c:pt idx="2">
                  <c:v>chicken</c:v>
                </c:pt>
              </c:strCache>
            </c:strRef>
          </c:cat>
          <c:val>
            <c:numRef>
              <c:f>Sheet10!$G$3:$G$6</c:f>
              <c:numCache>
                <c:formatCode>General</c:formatCode>
                <c:ptCount val="4"/>
                <c:pt idx="0">
                  <c:v>70</c:v>
                </c:pt>
                <c:pt idx="1">
                  <c:v>65</c:v>
                </c:pt>
                <c:pt idx="2">
                  <c:v>75</c:v>
                </c:pt>
              </c:numCache>
            </c:numRef>
          </c:val>
          <c:extLst>
            <c:ext xmlns:c16="http://schemas.microsoft.com/office/drawing/2014/chart" uri="{C3380CC4-5D6E-409C-BE32-E72D297353CC}">
              <c16:uniqueId val="{00000004-F2C3-431A-9A40-01EC4A59F76E}"/>
            </c:ext>
          </c:extLst>
        </c:ser>
        <c:dLbls>
          <c:dLblPos val="outEnd"/>
          <c:showLegendKey val="0"/>
          <c:showVal val="1"/>
          <c:showCatName val="0"/>
          <c:showSerName val="0"/>
          <c:showPercent val="0"/>
          <c:showBubbleSize val="0"/>
        </c:dLbls>
        <c:gapWidth val="219"/>
        <c:overlap val="-27"/>
        <c:axId val="364573360"/>
        <c:axId val="364570840"/>
        <c:extLst>
          <c:ext xmlns:c15="http://schemas.microsoft.com/office/drawing/2012/chart" uri="{02D57815-91ED-43cb-92C2-25804820EDAC}">
            <c15:filteredBarSeries>
              <c15:ser>
                <c:idx val="5"/>
                <c:order val="5"/>
                <c:tx>
                  <c:strRef>
                    <c:extLst>
                      <c:ext uri="{02D57815-91ED-43cb-92C2-25804820EDAC}">
                        <c15:formulaRef>
                          <c15:sqref>Sheet10!$H$2</c15:sqref>
                        </c15:formulaRef>
                      </c:ext>
                    </c:extLst>
                    <c:strCache>
                      <c:ptCount val="1"/>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Sheet10!$B$3:$B$6</c15:sqref>
                        </c15:formulaRef>
                      </c:ext>
                    </c:extLst>
                    <c:strCache>
                      <c:ptCount val="3"/>
                      <c:pt idx="0">
                        <c:v>cattle</c:v>
                      </c:pt>
                      <c:pt idx="1">
                        <c:v>goat</c:v>
                      </c:pt>
                      <c:pt idx="2">
                        <c:v>chicken</c:v>
                      </c:pt>
                    </c:strCache>
                  </c:strRef>
                </c:cat>
                <c:val>
                  <c:numRef>
                    <c:extLst>
                      <c:ext uri="{02D57815-91ED-43cb-92C2-25804820EDAC}">
                        <c15:formulaRef>
                          <c15:sqref>Sheet10!$H$3:$H$6</c15:sqref>
                        </c15:formulaRef>
                      </c:ext>
                    </c:extLst>
                    <c:numCache>
                      <c:formatCode>General</c:formatCode>
                      <c:ptCount val="4"/>
                    </c:numCache>
                  </c:numRef>
                </c:val>
                <c:extLst>
                  <c:ext xmlns:c16="http://schemas.microsoft.com/office/drawing/2014/chart" uri="{C3380CC4-5D6E-409C-BE32-E72D297353CC}">
                    <c16:uniqueId val="{00000005-F2C3-431A-9A40-01EC4A59F76E}"/>
                  </c:ext>
                </c:extLst>
              </c15:ser>
            </c15:filteredBarSeries>
          </c:ext>
        </c:extLst>
      </c:barChart>
      <c:catAx>
        <c:axId val="364573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4570840"/>
        <c:crosses val="autoZero"/>
        <c:auto val="1"/>
        <c:lblAlgn val="ctr"/>
        <c:lblOffset val="100"/>
        <c:noMultiLvlLbl val="0"/>
      </c:catAx>
      <c:valAx>
        <c:axId val="3645708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45733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t>Marketing of Livestock &amp; Poultry</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Sheet12!$C$1</c:f>
              <c:strCache>
                <c:ptCount val="1"/>
                <c:pt idx="0">
                  <c:v>live</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Sheet12!$B$2:$B$7</c:f>
              <c:strCache>
                <c:ptCount val="4"/>
                <c:pt idx="0">
                  <c:v>cattle</c:v>
                </c:pt>
                <c:pt idx="1">
                  <c:v>goat</c:v>
                </c:pt>
                <c:pt idx="2">
                  <c:v>chicken</c:v>
                </c:pt>
                <c:pt idx="3">
                  <c:v>duck</c:v>
                </c:pt>
              </c:strCache>
            </c:strRef>
          </c:cat>
          <c:val>
            <c:numRef>
              <c:f>Sheet12!$C$2:$C$7</c:f>
              <c:numCache>
                <c:formatCode>General</c:formatCode>
                <c:ptCount val="6"/>
                <c:pt idx="0">
                  <c:v>80</c:v>
                </c:pt>
                <c:pt idx="1">
                  <c:v>100</c:v>
                </c:pt>
                <c:pt idx="2">
                  <c:v>100</c:v>
                </c:pt>
                <c:pt idx="3">
                  <c:v>100</c:v>
                </c:pt>
              </c:numCache>
            </c:numRef>
          </c:val>
          <c:extLst>
            <c:ext xmlns:c16="http://schemas.microsoft.com/office/drawing/2014/chart" uri="{C3380CC4-5D6E-409C-BE32-E72D297353CC}">
              <c16:uniqueId val="{00000000-EC94-4604-B093-B638D87DB426}"/>
            </c:ext>
          </c:extLst>
        </c:ser>
        <c:ser>
          <c:idx val="1"/>
          <c:order val="1"/>
          <c:tx>
            <c:strRef>
              <c:f>Sheet12!$D$1</c:f>
              <c:strCache>
                <c:ptCount val="1"/>
                <c:pt idx="0">
                  <c:v>meat</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Sheet12!$B$2:$B$7</c:f>
              <c:strCache>
                <c:ptCount val="4"/>
                <c:pt idx="0">
                  <c:v>cattle</c:v>
                </c:pt>
                <c:pt idx="1">
                  <c:v>goat</c:v>
                </c:pt>
                <c:pt idx="2">
                  <c:v>chicken</c:v>
                </c:pt>
                <c:pt idx="3">
                  <c:v>duck</c:v>
                </c:pt>
              </c:strCache>
            </c:strRef>
          </c:cat>
          <c:val>
            <c:numRef>
              <c:f>Sheet12!$D$2:$D$7</c:f>
              <c:numCache>
                <c:formatCode>General</c:formatCode>
                <c:ptCount val="6"/>
              </c:numCache>
            </c:numRef>
          </c:val>
          <c:extLst>
            <c:ext xmlns:c16="http://schemas.microsoft.com/office/drawing/2014/chart" uri="{C3380CC4-5D6E-409C-BE32-E72D297353CC}">
              <c16:uniqueId val="{00000001-EC94-4604-B093-B638D87DB426}"/>
            </c:ext>
          </c:extLst>
        </c:ser>
        <c:ser>
          <c:idx val="2"/>
          <c:order val="2"/>
          <c:tx>
            <c:strRef>
              <c:f>Sheet12!$E$1</c:f>
              <c:strCache>
                <c:ptCount val="1"/>
                <c:pt idx="0">
                  <c:v>milk</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Sheet12!$B$2:$B$7</c:f>
              <c:strCache>
                <c:ptCount val="4"/>
                <c:pt idx="0">
                  <c:v>cattle</c:v>
                </c:pt>
                <c:pt idx="1">
                  <c:v>goat</c:v>
                </c:pt>
                <c:pt idx="2">
                  <c:v>chicken</c:v>
                </c:pt>
                <c:pt idx="3">
                  <c:v>duck</c:v>
                </c:pt>
              </c:strCache>
            </c:strRef>
          </c:cat>
          <c:val>
            <c:numRef>
              <c:f>Sheet12!$E$2:$E$7</c:f>
              <c:numCache>
                <c:formatCode>General</c:formatCode>
                <c:ptCount val="6"/>
                <c:pt idx="0">
                  <c:v>20</c:v>
                </c:pt>
              </c:numCache>
            </c:numRef>
          </c:val>
          <c:extLst>
            <c:ext xmlns:c16="http://schemas.microsoft.com/office/drawing/2014/chart" uri="{C3380CC4-5D6E-409C-BE32-E72D297353CC}">
              <c16:uniqueId val="{00000002-EC94-4604-B093-B638D87DB426}"/>
            </c:ext>
          </c:extLst>
        </c:ser>
        <c:ser>
          <c:idx val="3"/>
          <c:order val="3"/>
          <c:tx>
            <c:strRef>
              <c:f>Sheet12!$F$1</c:f>
              <c:strCache>
                <c:ptCount val="1"/>
                <c:pt idx="0">
                  <c:v>direct</c:v>
                </c:pt>
              </c:strCache>
            </c:strRef>
          </c:tx>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Sheet12!$B$2:$B$7</c:f>
              <c:strCache>
                <c:ptCount val="4"/>
                <c:pt idx="0">
                  <c:v>cattle</c:v>
                </c:pt>
                <c:pt idx="1">
                  <c:v>goat</c:v>
                </c:pt>
                <c:pt idx="2">
                  <c:v>chicken</c:v>
                </c:pt>
                <c:pt idx="3">
                  <c:v>duck</c:v>
                </c:pt>
              </c:strCache>
            </c:strRef>
          </c:cat>
          <c:val>
            <c:numRef>
              <c:f>Sheet12!$F$2:$F$7</c:f>
              <c:numCache>
                <c:formatCode>General</c:formatCode>
                <c:ptCount val="6"/>
                <c:pt idx="0">
                  <c:v>90</c:v>
                </c:pt>
                <c:pt idx="1">
                  <c:v>80</c:v>
                </c:pt>
                <c:pt idx="2">
                  <c:v>95</c:v>
                </c:pt>
                <c:pt idx="3">
                  <c:v>100</c:v>
                </c:pt>
              </c:numCache>
            </c:numRef>
          </c:val>
          <c:extLst>
            <c:ext xmlns:c16="http://schemas.microsoft.com/office/drawing/2014/chart" uri="{C3380CC4-5D6E-409C-BE32-E72D297353CC}">
              <c16:uniqueId val="{00000003-EC94-4604-B093-B638D87DB426}"/>
            </c:ext>
          </c:extLst>
        </c:ser>
        <c:ser>
          <c:idx val="4"/>
          <c:order val="4"/>
          <c:tx>
            <c:strRef>
              <c:f>Sheet12!$G$1</c:f>
              <c:strCache>
                <c:ptCount val="1"/>
                <c:pt idx="0">
                  <c:v>indirect</c:v>
                </c:pt>
              </c:strCache>
            </c:strRef>
          </c:tx>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Sheet12!$B$2:$B$7</c:f>
              <c:strCache>
                <c:ptCount val="4"/>
                <c:pt idx="0">
                  <c:v>cattle</c:v>
                </c:pt>
                <c:pt idx="1">
                  <c:v>goat</c:v>
                </c:pt>
                <c:pt idx="2">
                  <c:v>chicken</c:v>
                </c:pt>
                <c:pt idx="3">
                  <c:v>duck</c:v>
                </c:pt>
              </c:strCache>
            </c:strRef>
          </c:cat>
          <c:val>
            <c:numRef>
              <c:f>Sheet12!$G$2:$G$7</c:f>
              <c:numCache>
                <c:formatCode>General</c:formatCode>
                <c:ptCount val="6"/>
                <c:pt idx="0">
                  <c:v>10</c:v>
                </c:pt>
                <c:pt idx="1">
                  <c:v>20</c:v>
                </c:pt>
                <c:pt idx="2">
                  <c:v>5</c:v>
                </c:pt>
              </c:numCache>
            </c:numRef>
          </c:val>
          <c:extLst>
            <c:ext xmlns:c16="http://schemas.microsoft.com/office/drawing/2014/chart" uri="{C3380CC4-5D6E-409C-BE32-E72D297353CC}">
              <c16:uniqueId val="{00000004-EC94-4604-B093-B638D87DB426}"/>
            </c:ext>
          </c:extLst>
        </c:ser>
        <c:dLbls>
          <c:dLblPos val="outEnd"/>
          <c:showLegendKey val="0"/>
          <c:showVal val="1"/>
          <c:showCatName val="0"/>
          <c:showSerName val="0"/>
          <c:showPercent val="0"/>
          <c:showBubbleSize val="0"/>
        </c:dLbls>
        <c:gapWidth val="100"/>
        <c:overlap val="-24"/>
        <c:axId val="467573992"/>
        <c:axId val="467571472"/>
        <c:extLst>
          <c:ext xmlns:c15="http://schemas.microsoft.com/office/drawing/2012/chart" uri="{02D57815-91ED-43cb-92C2-25804820EDAC}">
            <c15:filteredBarSeries>
              <c15:ser>
                <c:idx val="5"/>
                <c:order val="5"/>
                <c:tx>
                  <c:strRef>
                    <c:extLst>
                      <c:ext uri="{02D57815-91ED-43cb-92C2-25804820EDAC}">
                        <c15:formulaRef>
                          <c15:sqref>Sheet12!$H$1</c15:sqref>
                        </c15:formulaRef>
                      </c:ext>
                    </c:extLst>
                    <c:strCache>
                      <c:ptCount val="1"/>
                    </c:strCache>
                  </c:strRef>
                </c:tx>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Sheet12!$B$2:$B$7</c15:sqref>
                        </c15:formulaRef>
                      </c:ext>
                    </c:extLst>
                    <c:strCache>
                      <c:ptCount val="4"/>
                      <c:pt idx="0">
                        <c:v>cattle</c:v>
                      </c:pt>
                      <c:pt idx="1">
                        <c:v>goat</c:v>
                      </c:pt>
                      <c:pt idx="2">
                        <c:v>chicken</c:v>
                      </c:pt>
                      <c:pt idx="3">
                        <c:v>duck</c:v>
                      </c:pt>
                    </c:strCache>
                  </c:strRef>
                </c:cat>
                <c:val>
                  <c:numRef>
                    <c:extLst>
                      <c:ext uri="{02D57815-91ED-43cb-92C2-25804820EDAC}">
                        <c15:formulaRef>
                          <c15:sqref>Sheet12!$H$2:$H$7</c15:sqref>
                        </c15:formulaRef>
                      </c:ext>
                    </c:extLst>
                    <c:numCache>
                      <c:formatCode>General</c:formatCode>
                      <c:ptCount val="6"/>
                    </c:numCache>
                  </c:numRef>
                </c:val>
                <c:extLst>
                  <c:ext xmlns:c16="http://schemas.microsoft.com/office/drawing/2014/chart" uri="{C3380CC4-5D6E-409C-BE32-E72D297353CC}">
                    <c16:uniqueId val="{00000005-EC94-4604-B093-B638D87DB426}"/>
                  </c:ext>
                </c:extLst>
              </c15:ser>
            </c15:filteredBarSeries>
          </c:ext>
        </c:extLst>
      </c:barChart>
      <c:catAx>
        <c:axId val="467573992"/>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67571472"/>
        <c:crosses val="autoZero"/>
        <c:auto val="1"/>
        <c:lblAlgn val="ctr"/>
        <c:lblOffset val="100"/>
        <c:noMultiLvlLbl val="0"/>
      </c:catAx>
      <c:valAx>
        <c:axId val="467571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675739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cap="all" spc="120" normalizeH="0" baseline="0">
                <a:solidFill>
                  <a:schemeClr val="tx1">
                    <a:lumMod val="65000"/>
                    <a:lumOff val="35000"/>
                  </a:schemeClr>
                </a:solidFill>
                <a:latin typeface="+mn-lt"/>
                <a:ea typeface="+mn-ea"/>
                <a:cs typeface="+mn-cs"/>
              </a:defRPr>
            </a:pPr>
            <a:r>
              <a:rPr lang="en-US" sz="2000"/>
              <a:t>Problem Faced by Farmer</a:t>
            </a:r>
          </a:p>
        </c:rich>
      </c:tx>
      <c:layout>
        <c:manualLayout>
          <c:xMode val="edge"/>
          <c:yMode val="edge"/>
          <c:x val="4.6509646251074323E-2"/>
          <c:y val="3.4328453016646596E-2"/>
        </c:manualLayout>
      </c:layout>
      <c:overlay val="0"/>
      <c:spPr>
        <a:noFill/>
        <a:ln>
          <a:noFill/>
        </a:ln>
        <a:effectLst/>
      </c:spPr>
      <c:txPr>
        <a:bodyPr rot="0" spcFirstLastPara="1" vertOverflow="ellipsis" vert="horz" wrap="square" anchor="ctr" anchorCtr="1"/>
        <a:lstStyle/>
        <a:p>
          <a:pPr>
            <a:defRPr sz="20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Sheet11!$D$2</c:f>
              <c:strCache>
                <c:ptCount val="1"/>
                <c:pt idx="0">
                  <c:v>Availability &amp; Price of Feed</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Sheet11!$C$3:$C$10</c:f>
              <c:strCache>
                <c:ptCount val="6"/>
                <c:pt idx="0">
                  <c:v>cattle</c:v>
                </c:pt>
                <c:pt idx="1">
                  <c:v>goat</c:v>
                </c:pt>
                <c:pt idx="2">
                  <c:v>chicken</c:v>
                </c:pt>
                <c:pt idx="3">
                  <c:v>duck</c:v>
                </c:pt>
                <c:pt idx="4">
                  <c:v>sheep</c:v>
                </c:pt>
                <c:pt idx="5">
                  <c:v>pigeon</c:v>
                </c:pt>
              </c:strCache>
            </c:strRef>
          </c:cat>
          <c:val>
            <c:numRef>
              <c:f>Sheet11!$D$3:$D$10</c:f>
              <c:numCache>
                <c:formatCode>General</c:formatCode>
                <c:ptCount val="8"/>
                <c:pt idx="0">
                  <c:v>98</c:v>
                </c:pt>
                <c:pt idx="1">
                  <c:v>100</c:v>
                </c:pt>
                <c:pt idx="2">
                  <c:v>80</c:v>
                </c:pt>
                <c:pt idx="3">
                  <c:v>90</c:v>
                </c:pt>
                <c:pt idx="4">
                  <c:v>90</c:v>
                </c:pt>
                <c:pt idx="5">
                  <c:v>90</c:v>
                </c:pt>
              </c:numCache>
            </c:numRef>
          </c:val>
          <c:extLst>
            <c:ext xmlns:c16="http://schemas.microsoft.com/office/drawing/2014/chart" uri="{C3380CC4-5D6E-409C-BE32-E72D297353CC}">
              <c16:uniqueId val="{00000000-8BE3-418C-BE21-6ADB5F091C9B}"/>
            </c:ext>
          </c:extLst>
        </c:ser>
        <c:ser>
          <c:idx val="1"/>
          <c:order val="1"/>
          <c:tx>
            <c:strRef>
              <c:f>Sheet11!$E$2</c:f>
              <c:strCache>
                <c:ptCount val="1"/>
                <c:pt idx="0">
                  <c:v>Long Calving/Kidding Interval</c:v>
                </c:pt>
              </c:strCache>
            </c:strRef>
          </c:tx>
          <c:spPr>
            <a:solidFill>
              <a:schemeClr val="accent4"/>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Sheet11!$C$3:$C$10</c:f>
              <c:strCache>
                <c:ptCount val="6"/>
                <c:pt idx="0">
                  <c:v>cattle</c:v>
                </c:pt>
                <c:pt idx="1">
                  <c:v>goat</c:v>
                </c:pt>
                <c:pt idx="2">
                  <c:v>chicken</c:v>
                </c:pt>
                <c:pt idx="3">
                  <c:v>duck</c:v>
                </c:pt>
                <c:pt idx="4">
                  <c:v>sheep</c:v>
                </c:pt>
                <c:pt idx="5">
                  <c:v>pigeon</c:v>
                </c:pt>
              </c:strCache>
            </c:strRef>
          </c:cat>
          <c:val>
            <c:numRef>
              <c:f>Sheet11!$E$3:$E$10</c:f>
              <c:numCache>
                <c:formatCode>General</c:formatCode>
                <c:ptCount val="8"/>
                <c:pt idx="0">
                  <c:v>60</c:v>
                </c:pt>
                <c:pt idx="1">
                  <c:v>90</c:v>
                </c:pt>
              </c:numCache>
            </c:numRef>
          </c:val>
          <c:extLst>
            <c:ext xmlns:c16="http://schemas.microsoft.com/office/drawing/2014/chart" uri="{C3380CC4-5D6E-409C-BE32-E72D297353CC}">
              <c16:uniqueId val="{00000001-8BE3-418C-BE21-6ADB5F091C9B}"/>
            </c:ext>
          </c:extLst>
        </c:ser>
        <c:ser>
          <c:idx val="2"/>
          <c:order val="2"/>
          <c:tx>
            <c:strRef>
              <c:f>Sheet11!$F$2</c:f>
              <c:strCache>
                <c:ptCount val="1"/>
                <c:pt idx="0">
                  <c:v>Marketing Facilities of Product</c:v>
                </c:pt>
              </c:strCache>
            </c:strRef>
          </c:tx>
          <c:spPr>
            <a:solidFill>
              <a:schemeClr val="accent6"/>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Sheet11!$C$3:$C$10</c:f>
              <c:strCache>
                <c:ptCount val="6"/>
                <c:pt idx="0">
                  <c:v>cattle</c:v>
                </c:pt>
                <c:pt idx="1">
                  <c:v>goat</c:v>
                </c:pt>
                <c:pt idx="2">
                  <c:v>chicken</c:v>
                </c:pt>
                <c:pt idx="3">
                  <c:v>duck</c:v>
                </c:pt>
                <c:pt idx="4">
                  <c:v>sheep</c:v>
                </c:pt>
                <c:pt idx="5">
                  <c:v>pigeon</c:v>
                </c:pt>
              </c:strCache>
            </c:strRef>
          </c:cat>
          <c:val>
            <c:numRef>
              <c:f>Sheet11!$F$3:$F$10</c:f>
              <c:numCache>
                <c:formatCode>General</c:formatCode>
                <c:ptCount val="8"/>
                <c:pt idx="0">
                  <c:v>80</c:v>
                </c:pt>
                <c:pt idx="1">
                  <c:v>70</c:v>
                </c:pt>
                <c:pt idx="2">
                  <c:v>60</c:v>
                </c:pt>
                <c:pt idx="3">
                  <c:v>70</c:v>
                </c:pt>
                <c:pt idx="4">
                  <c:v>80</c:v>
                </c:pt>
                <c:pt idx="5">
                  <c:v>90</c:v>
                </c:pt>
              </c:numCache>
            </c:numRef>
          </c:val>
          <c:extLst>
            <c:ext xmlns:c16="http://schemas.microsoft.com/office/drawing/2014/chart" uri="{C3380CC4-5D6E-409C-BE32-E72D297353CC}">
              <c16:uniqueId val="{00000002-8BE3-418C-BE21-6ADB5F091C9B}"/>
            </c:ext>
          </c:extLst>
        </c:ser>
        <c:ser>
          <c:idx val="3"/>
          <c:order val="3"/>
          <c:tx>
            <c:strRef>
              <c:f>Sheet11!$G$2</c:f>
              <c:strCache>
                <c:ptCount val="1"/>
                <c:pt idx="0">
                  <c:v>Availability of vaccine &amp; medicine</c:v>
                </c:pt>
              </c:strCache>
            </c:strRef>
          </c:tx>
          <c:spPr>
            <a:solidFill>
              <a:schemeClr val="accent2">
                <a:lumMod val="60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Sheet11!$C$3:$C$10</c:f>
              <c:strCache>
                <c:ptCount val="6"/>
                <c:pt idx="0">
                  <c:v>cattle</c:v>
                </c:pt>
                <c:pt idx="1">
                  <c:v>goat</c:v>
                </c:pt>
                <c:pt idx="2">
                  <c:v>chicken</c:v>
                </c:pt>
                <c:pt idx="3">
                  <c:v>duck</c:v>
                </c:pt>
                <c:pt idx="4">
                  <c:v>sheep</c:v>
                </c:pt>
                <c:pt idx="5">
                  <c:v>pigeon</c:v>
                </c:pt>
              </c:strCache>
            </c:strRef>
          </c:cat>
          <c:val>
            <c:numRef>
              <c:f>Sheet11!$G$3:$G$10</c:f>
              <c:numCache>
                <c:formatCode>General</c:formatCode>
                <c:ptCount val="8"/>
                <c:pt idx="0">
                  <c:v>70</c:v>
                </c:pt>
                <c:pt idx="1">
                  <c:v>80</c:v>
                </c:pt>
                <c:pt idx="2">
                  <c:v>60</c:v>
                </c:pt>
                <c:pt idx="3">
                  <c:v>90</c:v>
                </c:pt>
              </c:numCache>
            </c:numRef>
          </c:val>
          <c:extLst>
            <c:ext xmlns:c16="http://schemas.microsoft.com/office/drawing/2014/chart" uri="{C3380CC4-5D6E-409C-BE32-E72D297353CC}">
              <c16:uniqueId val="{00000003-8BE3-418C-BE21-6ADB5F091C9B}"/>
            </c:ext>
          </c:extLst>
        </c:ser>
        <c:ser>
          <c:idx val="4"/>
          <c:order val="4"/>
          <c:tx>
            <c:strRef>
              <c:f>Sheet11!$H$2</c:f>
              <c:strCache>
                <c:ptCount val="1"/>
                <c:pt idx="0">
                  <c:v>Diease prevalace</c:v>
                </c:pt>
              </c:strCache>
            </c:strRef>
          </c:tx>
          <c:spPr>
            <a:solidFill>
              <a:schemeClr val="accent4">
                <a:lumMod val="60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Sheet11!$C$3:$C$10</c:f>
              <c:strCache>
                <c:ptCount val="6"/>
                <c:pt idx="0">
                  <c:v>cattle</c:v>
                </c:pt>
                <c:pt idx="1">
                  <c:v>goat</c:v>
                </c:pt>
                <c:pt idx="2">
                  <c:v>chicken</c:v>
                </c:pt>
                <c:pt idx="3">
                  <c:v>duck</c:v>
                </c:pt>
                <c:pt idx="4">
                  <c:v>sheep</c:v>
                </c:pt>
                <c:pt idx="5">
                  <c:v>pigeon</c:v>
                </c:pt>
              </c:strCache>
            </c:strRef>
          </c:cat>
          <c:val>
            <c:numRef>
              <c:f>Sheet11!$H$3:$H$10</c:f>
              <c:numCache>
                <c:formatCode>General</c:formatCode>
                <c:ptCount val="8"/>
                <c:pt idx="0">
                  <c:v>60</c:v>
                </c:pt>
                <c:pt idx="1">
                  <c:v>70</c:v>
                </c:pt>
                <c:pt idx="2">
                  <c:v>80</c:v>
                </c:pt>
                <c:pt idx="5">
                  <c:v>100</c:v>
                </c:pt>
              </c:numCache>
            </c:numRef>
          </c:val>
          <c:extLst>
            <c:ext xmlns:c16="http://schemas.microsoft.com/office/drawing/2014/chart" uri="{C3380CC4-5D6E-409C-BE32-E72D297353CC}">
              <c16:uniqueId val="{00000004-8BE3-418C-BE21-6ADB5F091C9B}"/>
            </c:ext>
          </c:extLst>
        </c:ser>
        <c:ser>
          <c:idx val="5"/>
          <c:order val="5"/>
          <c:tx>
            <c:strRef>
              <c:f>Sheet11!$I$2</c:f>
              <c:strCache>
                <c:ptCount val="1"/>
                <c:pt idx="0">
                  <c:v>Availability of treatment facilities</c:v>
                </c:pt>
              </c:strCache>
            </c:strRef>
          </c:tx>
          <c:spPr>
            <a:solidFill>
              <a:schemeClr val="accent6">
                <a:lumMod val="60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Sheet11!$C$3:$C$10</c:f>
              <c:strCache>
                <c:ptCount val="6"/>
                <c:pt idx="0">
                  <c:v>cattle</c:v>
                </c:pt>
                <c:pt idx="1">
                  <c:v>goat</c:v>
                </c:pt>
                <c:pt idx="2">
                  <c:v>chicken</c:v>
                </c:pt>
                <c:pt idx="3">
                  <c:v>duck</c:v>
                </c:pt>
                <c:pt idx="4">
                  <c:v>sheep</c:v>
                </c:pt>
                <c:pt idx="5">
                  <c:v>pigeon</c:v>
                </c:pt>
              </c:strCache>
            </c:strRef>
          </c:cat>
          <c:val>
            <c:numRef>
              <c:f>Sheet11!$I$3:$I$10</c:f>
              <c:numCache>
                <c:formatCode>General</c:formatCode>
                <c:ptCount val="8"/>
                <c:pt idx="0">
                  <c:v>80</c:v>
                </c:pt>
                <c:pt idx="1">
                  <c:v>70</c:v>
                </c:pt>
                <c:pt idx="2">
                  <c:v>60</c:v>
                </c:pt>
                <c:pt idx="4">
                  <c:v>80</c:v>
                </c:pt>
              </c:numCache>
            </c:numRef>
          </c:val>
          <c:extLst>
            <c:ext xmlns:c16="http://schemas.microsoft.com/office/drawing/2014/chart" uri="{C3380CC4-5D6E-409C-BE32-E72D297353CC}">
              <c16:uniqueId val="{00000005-8BE3-418C-BE21-6ADB5F091C9B}"/>
            </c:ext>
          </c:extLst>
        </c:ser>
        <c:ser>
          <c:idx val="6"/>
          <c:order val="6"/>
          <c:tx>
            <c:strRef>
              <c:f>Sheet11!$J$2</c:f>
              <c:strCache>
                <c:ptCount val="1"/>
                <c:pt idx="0">
                  <c:v>AI facilities</c:v>
                </c:pt>
              </c:strCache>
            </c:strRef>
          </c:tx>
          <c:spPr>
            <a:solidFill>
              <a:schemeClr val="accent2">
                <a:lumMod val="80000"/>
                <a:lumOff val="20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Sheet11!$C$3:$C$10</c:f>
              <c:strCache>
                <c:ptCount val="6"/>
                <c:pt idx="0">
                  <c:v>cattle</c:v>
                </c:pt>
                <c:pt idx="1">
                  <c:v>goat</c:v>
                </c:pt>
                <c:pt idx="2">
                  <c:v>chicken</c:v>
                </c:pt>
                <c:pt idx="3">
                  <c:v>duck</c:v>
                </c:pt>
                <c:pt idx="4">
                  <c:v>sheep</c:v>
                </c:pt>
                <c:pt idx="5">
                  <c:v>pigeon</c:v>
                </c:pt>
              </c:strCache>
            </c:strRef>
          </c:cat>
          <c:val>
            <c:numRef>
              <c:f>Sheet11!$J$3:$J$10</c:f>
              <c:numCache>
                <c:formatCode>General</c:formatCode>
                <c:ptCount val="8"/>
                <c:pt idx="0">
                  <c:v>20</c:v>
                </c:pt>
              </c:numCache>
            </c:numRef>
          </c:val>
          <c:extLst>
            <c:ext xmlns:c16="http://schemas.microsoft.com/office/drawing/2014/chart" uri="{C3380CC4-5D6E-409C-BE32-E72D297353CC}">
              <c16:uniqueId val="{00000006-8BE3-418C-BE21-6ADB5F091C9B}"/>
            </c:ext>
          </c:extLst>
        </c:ser>
        <c:dLbls>
          <c:dLblPos val="outEnd"/>
          <c:showLegendKey val="0"/>
          <c:showVal val="1"/>
          <c:showCatName val="0"/>
          <c:showSerName val="0"/>
          <c:showPercent val="0"/>
          <c:showBubbleSize val="0"/>
        </c:dLbls>
        <c:gapWidth val="444"/>
        <c:overlap val="-90"/>
        <c:axId val="557363008"/>
        <c:axId val="557355088"/>
        <c:extLst>
          <c:ext xmlns:c15="http://schemas.microsoft.com/office/drawing/2012/chart" uri="{02D57815-91ED-43cb-92C2-25804820EDAC}">
            <c15:filteredBarSeries>
              <c15:ser>
                <c:idx val="7"/>
                <c:order val="7"/>
                <c:tx>
                  <c:strRef>
                    <c:extLst>
                      <c:ext uri="{02D57815-91ED-43cb-92C2-25804820EDAC}">
                        <c15:formulaRef>
                          <c15:sqref>Sheet11!$K$2</c15:sqref>
                        </c15:formulaRef>
                      </c:ext>
                    </c:extLst>
                    <c:strCache>
                      <c:ptCount val="1"/>
                    </c:strCache>
                  </c:strRef>
                </c:tx>
                <c:spPr>
                  <a:solidFill>
                    <a:schemeClr val="accent4">
                      <a:lumMod val="80000"/>
                      <a:lumOff val="20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uri="{CE6537A1-D6FC-4f65-9D91-7224C49458BB}">
                      <c15:showLeaderLines val="1"/>
                      <c15:leaderLines>
                        <c:spPr>
                          <a:ln w="9525">
                            <a:solidFill>
                              <a:schemeClr val="tx1">
                                <a:lumMod val="35000"/>
                                <a:lumOff val="65000"/>
                              </a:schemeClr>
                            </a:solidFill>
                          </a:ln>
                          <a:effectLst/>
                        </c:spPr>
                      </c15:leaderLines>
                    </c:ext>
                  </c:extLst>
                </c:dLbls>
                <c:cat>
                  <c:strRef>
                    <c:extLst>
                      <c:ext uri="{02D57815-91ED-43cb-92C2-25804820EDAC}">
                        <c15:formulaRef>
                          <c15:sqref>Sheet11!$C$3:$C$10</c15:sqref>
                        </c15:formulaRef>
                      </c:ext>
                    </c:extLst>
                    <c:strCache>
                      <c:ptCount val="6"/>
                      <c:pt idx="0">
                        <c:v>cattle</c:v>
                      </c:pt>
                      <c:pt idx="1">
                        <c:v>goat</c:v>
                      </c:pt>
                      <c:pt idx="2">
                        <c:v>chicken</c:v>
                      </c:pt>
                      <c:pt idx="3">
                        <c:v>duck</c:v>
                      </c:pt>
                      <c:pt idx="4">
                        <c:v>sheep</c:v>
                      </c:pt>
                      <c:pt idx="5">
                        <c:v>pigeon</c:v>
                      </c:pt>
                    </c:strCache>
                  </c:strRef>
                </c:cat>
                <c:val>
                  <c:numRef>
                    <c:extLst>
                      <c:ext uri="{02D57815-91ED-43cb-92C2-25804820EDAC}">
                        <c15:formulaRef>
                          <c15:sqref>Sheet11!$K$3:$K$10</c15:sqref>
                        </c15:formulaRef>
                      </c:ext>
                    </c:extLst>
                    <c:numCache>
                      <c:formatCode>General</c:formatCode>
                      <c:ptCount val="8"/>
                    </c:numCache>
                  </c:numRef>
                </c:val>
                <c:extLst>
                  <c:ext xmlns:c16="http://schemas.microsoft.com/office/drawing/2014/chart" uri="{C3380CC4-5D6E-409C-BE32-E72D297353CC}">
                    <c16:uniqueId val="{00000007-8BE3-418C-BE21-6ADB5F091C9B}"/>
                  </c:ext>
                </c:extLst>
              </c15:ser>
            </c15:filteredBarSeries>
          </c:ext>
        </c:extLst>
      </c:barChart>
      <c:catAx>
        <c:axId val="55736300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557355088"/>
        <c:crosses val="autoZero"/>
        <c:auto val="1"/>
        <c:lblAlgn val="ctr"/>
        <c:lblOffset val="100"/>
        <c:noMultiLvlLbl val="0"/>
      </c:catAx>
      <c:valAx>
        <c:axId val="557355088"/>
        <c:scaling>
          <c:orientation val="minMax"/>
        </c:scaling>
        <c:delete val="1"/>
        <c:axPos val="l"/>
        <c:numFmt formatCode="General" sourceLinked="1"/>
        <c:majorTickMark val="none"/>
        <c:minorTickMark val="none"/>
        <c:tickLblPos val="nextTo"/>
        <c:crossAx val="557363008"/>
        <c:crosses val="autoZero"/>
        <c:crossBetween val="between"/>
      </c:valAx>
      <c:spPr>
        <a:noFill/>
        <a:ln>
          <a:noFill/>
        </a:ln>
        <a:effectLst/>
      </c:spPr>
    </c:plotArea>
    <c:legend>
      <c:legendPos val="t"/>
      <c:layout>
        <c:manualLayout>
          <c:xMode val="edge"/>
          <c:yMode val="edge"/>
          <c:x val="0.39472493676496156"/>
          <c:y val="8.5218627645757397E-2"/>
          <c:w val="0.57859337850180093"/>
          <c:h val="0.209010813462700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Milking Practice</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Sheet8!$B$3</c:f>
              <c:strCache>
                <c:ptCount val="1"/>
                <c:pt idx="0">
                  <c:v>cattle</c:v>
                </c:pt>
              </c:strCache>
            </c:strRef>
          </c:tx>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invertIfNegative val="0"/>
          <c:cat>
            <c:strRef>
              <c:f>Sheet8!$C$2:$H$2</c:f>
              <c:strCache>
                <c:ptCount val="6"/>
                <c:pt idx="0">
                  <c:v>own(milker)</c:v>
                </c:pt>
                <c:pt idx="1">
                  <c:v>other(milker)</c:v>
                </c:pt>
                <c:pt idx="2">
                  <c:v>hand</c:v>
                </c:pt>
                <c:pt idx="3">
                  <c:v>machine</c:v>
                </c:pt>
                <c:pt idx="4">
                  <c:v>morning</c:v>
                </c:pt>
                <c:pt idx="5">
                  <c:v>afternoon</c:v>
                </c:pt>
              </c:strCache>
              <c:extLst/>
            </c:strRef>
          </c:cat>
          <c:val>
            <c:numRef>
              <c:f>Sheet8!$C$3:$H$3</c:f>
              <c:numCache>
                <c:formatCode>General</c:formatCode>
                <c:ptCount val="6"/>
                <c:pt idx="0">
                  <c:v>95</c:v>
                </c:pt>
                <c:pt idx="1">
                  <c:v>5</c:v>
                </c:pt>
                <c:pt idx="2">
                  <c:v>100</c:v>
                </c:pt>
                <c:pt idx="4">
                  <c:v>100</c:v>
                </c:pt>
                <c:pt idx="5">
                  <c:v>100</c:v>
                </c:pt>
              </c:numCache>
              <c:extLst/>
            </c:numRef>
          </c:val>
          <c:extLst>
            <c:ext xmlns:c16="http://schemas.microsoft.com/office/drawing/2014/chart" uri="{C3380CC4-5D6E-409C-BE32-E72D297353CC}">
              <c16:uniqueId val="{00000000-C0B3-4DFF-A92A-F680AFC3F957}"/>
            </c:ext>
          </c:extLst>
        </c:ser>
        <c:ser>
          <c:idx val="1"/>
          <c:order val="1"/>
          <c:tx>
            <c:strRef>
              <c:f>Sheet8!$B$4</c:f>
              <c:strCache>
                <c:ptCount val="1"/>
                <c:pt idx="0">
                  <c:v>goat</c:v>
                </c:pt>
              </c:strCache>
            </c:strRef>
          </c:tx>
          <c:spPr>
            <a:solidFill>
              <a:schemeClr val="accent2">
                <a:alpha val="85000"/>
              </a:schemeClr>
            </a:solidFill>
            <a:ln w="9525" cap="flat" cmpd="sng" algn="ctr">
              <a:solidFill>
                <a:schemeClr val="accent2">
                  <a:lumMod val="75000"/>
                </a:schemeClr>
              </a:solidFill>
              <a:round/>
            </a:ln>
            <a:effectLst/>
            <a:sp3d contourW="9525">
              <a:contourClr>
                <a:schemeClr val="accent2">
                  <a:lumMod val="75000"/>
                </a:schemeClr>
              </a:contourClr>
            </a:sp3d>
          </c:spPr>
          <c:invertIfNegative val="0"/>
          <c:cat>
            <c:strRef>
              <c:f>Sheet8!$C$2:$H$2</c:f>
              <c:strCache>
                <c:ptCount val="6"/>
                <c:pt idx="0">
                  <c:v>own(milker)</c:v>
                </c:pt>
                <c:pt idx="1">
                  <c:v>other(milker)</c:v>
                </c:pt>
                <c:pt idx="2">
                  <c:v>hand</c:v>
                </c:pt>
                <c:pt idx="3">
                  <c:v>machine</c:v>
                </c:pt>
                <c:pt idx="4">
                  <c:v>morning</c:v>
                </c:pt>
                <c:pt idx="5">
                  <c:v>afternoon</c:v>
                </c:pt>
              </c:strCache>
              <c:extLst/>
            </c:strRef>
          </c:cat>
          <c:val>
            <c:numRef>
              <c:f>Sheet8!$C$4:$H$4</c:f>
              <c:numCache>
                <c:formatCode>General</c:formatCode>
                <c:ptCount val="6"/>
                <c:pt idx="0">
                  <c:v>100</c:v>
                </c:pt>
                <c:pt idx="2">
                  <c:v>100</c:v>
                </c:pt>
                <c:pt idx="5">
                  <c:v>100</c:v>
                </c:pt>
              </c:numCache>
              <c:extLst/>
            </c:numRef>
          </c:val>
          <c:extLst>
            <c:ext xmlns:c16="http://schemas.microsoft.com/office/drawing/2014/chart" uri="{C3380CC4-5D6E-409C-BE32-E72D297353CC}">
              <c16:uniqueId val="{00000001-C0B3-4DFF-A92A-F680AFC3F957}"/>
            </c:ext>
          </c:extLst>
        </c:ser>
        <c:dLbls>
          <c:showLegendKey val="0"/>
          <c:showVal val="0"/>
          <c:showCatName val="0"/>
          <c:showSerName val="0"/>
          <c:showPercent val="0"/>
          <c:showBubbleSize val="0"/>
        </c:dLbls>
        <c:gapWidth val="65"/>
        <c:shape val="box"/>
        <c:axId val="465727008"/>
        <c:axId val="465722688"/>
        <c:axId val="0"/>
      </c:bar3DChart>
      <c:catAx>
        <c:axId val="465727008"/>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465722688"/>
        <c:crosses val="autoZero"/>
        <c:auto val="1"/>
        <c:lblAlgn val="ctr"/>
        <c:lblOffset val="100"/>
        <c:noMultiLvlLbl val="0"/>
      </c:catAx>
      <c:valAx>
        <c:axId val="465722688"/>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465727008"/>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r>
              <a:rPr lang="en-US" sz="2000" b="1" dirty="0"/>
              <a:t>Feeding</a:t>
            </a:r>
            <a:r>
              <a:rPr lang="en-US" sz="2000" b="1" baseline="0" dirty="0"/>
              <a:t> of Livestock and poultry</a:t>
            </a:r>
            <a:endParaRPr lang="en-US" sz="2000" b="1" dirty="0"/>
          </a:p>
        </c:rich>
      </c:tx>
      <c:layout>
        <c:manualLayout>
          <c:xMode val="edge"/>
          <c:yMode val="edge"/>
          <c:x val="0.41580752727573855"/>
          <c:y val="0.1070559610705596"/>
        </c:manualLayout>
      </c:layout>
      <c:overlay val="0"/>
      <c:spPr>
        <a:noFill/>
        <a:ln>
          <a:noFill/>
        </a:ln>
        <a:effectLst/>
      </c:spPr>
      <c:txPr>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47981901560947643"/>
          <c:y val="0.23905349794238684"/>
          <c:w val="0.46576887948256923"/>
          <c:h val="0.57134409124785324"/>
        </c:manualLayout>
      </c:layout>
      <c:barChart>
        <c:barDir val="bar"/>
        <c:grouping val="clustered"/>
        <c:varyColors val="0"/>
        <c:ser>
          <c:idx val="1"/>
          <c:order val="1"/>
          <c:tx>
            <c:strRef>
              <c:f>Sheet6!$C$6</c:f>
              <c:strCache>
                <c:ptCount val="1"/>
                <c:pt idx="0">
                  <c:v>Cattle</c:v>
                </c:pt>
              </c:strCache>
            </c:strRef>
          </c:tx>
          <c:spPr>
            <a:solidFill>
              <a:schemeClr val="accent2"/>
            </a:solidFill>
            <a:ln>
              <a:noFill/>
            </a:ln>
            <a:effectLst/>
          </c:spPr>
          <c:invertIfNegative val="0"/>
          <c:cat>
            <c:strRef>
              <c:f>Sheet6!$D$3:$J$3</c:f>
              <c:strCache>
                <c:ptCount val="5"/>
                <c:pt idx="0">
                  <c:v>Roughage (straw, green grass, leaves, roadside grass)</c:v>
                </c:pt>
                <c:pt idx="1">
                  <c:v>Concentrate (Mustard oil cake, maize, broken rice, rice polish, salt,water,gram)</c:v>
                </c:pt>
                <c:pt idx="2">
                  <c:v>Commercial feed(Nourish,ACI)</c:v>
                </c:pt>
                <c:pt idx="3">
                  <c:v>handmade(broken rice,boiled rice)</c:v>
                </c:pt>
                <c:pt idx="4">
                  <c:v>uncoventional(kitchen waste,snail,jackfruit leaf)</c:v>
                </c:pt>
              </c:strCache>
              <c:extLst/>
            </c:strRef>
          </c:cat>
          <c:val>
            <c:numRef>
              <c:f>Sheet6!$D$6:$J$6</c:f>
              <c:numCache>
                <c:formatCode>0%</c:formatCode>
                <c:ptCount val="7"/>
                <c:pt idx="0">
                  <c:v>1</c:v>
                </c:pt>
                <c:pt idx="1">
                  <c:v>1</c:v>
                </c:pt>
                <c:pt idx="2">
                  <c:v>0.2</c:v>
                </c:pt>
              </c:numCache>
            </c:numRef>
          </c:val>
          <c:extLst>
            <c:ext xmlns:c16="http://schemas.microsoft.com/office/drawing/2014/chart" uri="{C3380CC4-5D6E-409C-BE32-E72D297353CC}">
              <c16:uniqueId val="{00000000-0D41-4B25-BE66-1E973E209BA2}"/>
            </c:ext>
          </c:extLst>
        </c:ser>
        <c:ser>
          <c:idx val="2"/>
          <c:order val="2"/>
          <c:tx>
            <c:strRef>
              <c:f>Sheet6!$C$7</c:f>
              <c:strCache>
                <c:ptCount val="1"/>
              </c:strCache>
            </c:strRef>
          </c:tx>
          <c:spPr>
            <a:solidFill>
              <a:schemeClr val="accent3"/>
            </a:solidFill>
            <a:ln>
              <a:noFill/>
            </a:ln>
            <a:effectLst/>
          </c:spPr>
          <c:invertIfNegative val="0"/>
          <c:cat>
            <c:strRef>
              <c:f>Sheet6!$D$3:$J$3</c:f>
              <c:strCache>
                <c:ptCount val="5"/>
                <c:pt idx="0">
                  <c:v>Roughage (straw, green grass, leaves, roadside grass)</c:v>
                </c:pt>
                <c:pt idx="1">
                  <c:v>Concentrate (Mustard oil cake, maize, broken rice, rice polish, salt,water,gram)</c:v>
                </c:pt>
                <c:pt idx="2">
                  <c:v>Commercial feed(Nourish,ACI)</c:v>
                </c:pt>
                <c:pt idx="3">
                  <c:v>handmade(broken rice,boiled rice)</c:v>
                </c:pt>
                <c:pt idx="4">
                  <c:v>uncoventional(kitchen waste,snail,jackfruit leaf)</c:v>
                </c:pt>
              </c:strCache>
              <c:extLst/>
            </c:strRef>
          </c:cat>
          <c:val>
            <c:numRef>
              <c:f>Sheet6!$D$7:$J$7</c:f>
              <c:numCache>
                <c:formatCode>General</c:formatCode>
                <c:ptCount val="7"/>
                <c:pt idx="1">
                  <c:v>0</c:v>
                </c:pt>
              </c:numCache>
            </c:numRef>
          </c:val>
          <c:extLst>
            <c:ext xmlns:c16="http://schemas.microsoft.com/office/drawing/2014/chart" uri="{C3380CC4-5D6E-409C-BE32-E72D297353CC}">
              <c16:uniqueId val="{00000001-0D41-4B25-BE66-1E973E209BA2}"/>
            </c:ext>
          </c:extLst>
        </c:ser>
        <c:ser>
          <c:idx val="3"/>
          <c:order val="3"/>
          <c:tx>
            <c:strRef>
              <c:f>Sheet6!$C$8</c:f>
              <c:strCache>
                <c:ptCount val="1"/>
                <c:pt idx="0">
                  <c:v>Goat</c:v>
                </c:pt>
              </c:strCache>
            </c:strRef>
          </c:tx>
          <c:spPr>
            <a:solidFill>
              <a:schemeClr val="accent4"/>
            </a:solidFill>
            <a:ln>
              <a:noFill/>
            </a:ln>
            <a:effectLst/>
          </c:spPr>
          <c:invertIfNegative val="0"/>
          <c:cat>
            <c:strRef>
              <c:f>Sheet6!$D$3:$J$3</c:f>
              <c:strCache>
                <c:ptCount val="5"/>
                <c:pt idx="0">
                  <c:v>Roughage (straw, green grass, leaves, roadside grass)</c:v>
                </c:pt>
                <c:pt idx="1">
                  <c:v>Concentrate (Mustard oil cake, maize, broken rice, rice polish, salt,water,gram)</c:v>
                </c:pt>
                <c:pt idx="2">
                  <c:v>Commercial feed(Nourish,ACI)</c:v>
                </c:pt>
                <c:pt idx="3">
                  <c:v>handmade(broken rice,boiled rice)</c:v>
                </c:pt>
                <c:pt idx="4">
                  <c:v>uncoventional(kitchen waste,snail,jackfruit leaf)</c:v>
                </c:pt>
              </c:strCache>
              <c:extLst/>
            </c:strRef>
          </c:cat>
          <c:val>
            <c:numRef>
              <c:f>Sheet6!$D$8:$J$8</c:f>
              <c:numCache>
                <c:formatCode>0%</c:formatCode>
                <c:ptCount val="7"/>
                <c:pt idx="0">
                  <c:v>1</c:v>
                </c:pt>
                <c:pt idx="1">
                  <c:v>1</c:v>
                </c:pt>
                <c:pt idx="4">
                  <c:v>0.5</c:v>
                </c:pt>
              </c:numCache>
            </c:numRef>
          </c:val>
          <c:extLst>
            <c:ext xmlns:c16="http://schemas.microsoft.com/office/drawing/2014/chart" uri="{C3380CC4-5D6E-409C-BE32-E72D297353CC}">
              <c16:uniqueId val="{00000002-0D41-4B25-BE66-1E973E209BA2}"/>
            </c:ext>
          </c:extLst>
        </c:ser>
        <c:ser>
          <c:idx val="5"/>
          <c:order val="5"/>
          <c:tx>
            <c:strRef>
              <c:f>Sheet6!$C$10</c:f>
              <c:strCache>
                <c:ptCount val="1"/>
                <c:pt idx="0">
                  <c:v>chicken</c:v>
                </c:pt>
              </c:strCache>
            </c:strRef>
          </c:tx>
          <c:spPr>
            <a:solidFill>
              <a:schemeClr val="accent6"/>
            </a:solidFill>
            <a:ln>
              <a:noFill/>
            </a:ln>
            <a:effectLst/>
          </c:spPr>
          <c:invertIfNegative val="0"/>
          <c:cat>
            <c:strRef>
              <c:f>Sheet6!$D$3:$J$3</c:f>
              <c:strCache>
                <c:ptCount val="5"/>
                <c:pt idx="0">
                  <c:v>Roughage (straw, green grass, leaves, roadside grass)</c:v>
                </c:pt>
                <c:pt idx="1">
                  <c:v>Concentrate (Mustard oil cake, maize, broken rice, rice polish, salt,water,gram)</c:v>
                </c:pt>
                <c:pt idx="2">
                  <c:v>Commercial feed(Nourish,ACI)</c:v>
                </c:pt>
                <c:pt idx="3">
                  <c:v>handmade(broken rice,boiled rice)</c:v>
                </c:pt>
                <c:pt idx="4">
                  <c:v>uncoventional(kitchen waste,snail,jackfruit leaf)</c:v>
                </c:pt>
              </c:strCache>
              <c:extLst/>
            </c:strRef>
          </c:cat>
          <c:val>
            <c:numRef>
              <c:f>Sheet6!$D$10:$J$10</c:f>
              <c:numCache>
                <c:formatCode>General</c:formatCode>
                <c:ptCount val="7"/>
                <c:pt idx="3" formatCode="0%">
                  <c:v>1</c:v>
                </c:pt>
                <c:pt idx="4" formatCode="0%">
                  <c:v>0.9</c:v>
                </c:pt>
              </c:numCache>
            </c:numRef>
          </c:val>
          <c:extLst>
            <c:ext xmlns:c16="http://schemas.microsoft.com/office/drawing/2014/chart" uri="{C3380CC4-5D6E-409C-BE32-E72D297353CC}">
              <c16:uniqueId val="{00000003-0D41-4B25-BE66-1E973E209BA2}"/>
            </c:ext>
          </c:extLst>
        </c:ser>
        <c:ser>
          <c:idx val="6"/>
          <c:order val="6"/>
          <c:tx>
            <c:strRef>
              <c:f>Sheet6!$C$11</c:f>
              <c:strCache>
                <c:ptCount val="1"/>
                <c:pt idx="0">
                  <c:v>duck</c:v>
                </c:pt>
              </c:strCache>
            </c:strRef>
          </c:tx>
          <c:spPr>
            <a:solidFill>
              <a:schemeClr val="accent1">
                <a:lumMod val="60000"/>
              </a:schemeClr>
            </a:solidFill>
            <a:ln>
              <a:noFill/>
            </a:ln>
            <a:effectLst/>
          </c:spPr>
          <c:invertIfNegative val="0"/>
          <c:cat>
            <c:strRef>
              <c:f>Sheet6!$D$3:$J$3</c:f>
              <c:strCache>
                <c:ptCount val="5"/>
                <c:pt idx="0">
                  <c:v>Roughage (straw, green grass, leaves, roadside grass)</c:v>
                </c:pt>
                <c:pt idx="1">
                  <c:v>Concentrate (Mustard oil cake, maize, broken rice, rice polish, salt,water,gram)</c:v>
                </c:pt>
                <c:pt idx="2">
                  <c:v>Commercial feed(Nourish,ACI)</c:v>
                </c:pt>
                <c:pt idx="3">
                  <c:v>handmade(broken rice,boiled rice)</c:v>
                </c:pt>
                <c:pt idx="4">
                  <c:v>uncoventional(kitchen waste,snail,jackfruit leaf)</c:v>
                </c:pt>
              </c:strCache>
              <c:extLst/>
            </c:strRef>
          </c:cat>
          <c:val>
            <c:numRef>
              <c:f>Sheet6!$D$11:$J$11</c:f>
              <c:numCache>
                <c:formatCode>General</c:formatCode>
                <c:ptCount val="7"/>
                <c:pt idx="3" formatCode="0%">
                  <c:v>1</c:v>
                </c:pt>
                <c:pt idx="4" formatCode="0%">
                  <c:v>0.9</c:v>
                </c:pt>
              </c:numCache>
            </c:numRef>
          </c:val>
          <c:extLst>
            <c:ext xmlns:c16="http://schemas.microsoft.com/office/drawing/2014/chart" uri="{C3380CC4-5D6E-409C-BE32-E72D297353CC}">
              <c16:uniqueId val="{00000004-0D41-4B25-BE66-1E973E209BA2}"/>
            </c:ext>
          </c:extLst>
        </c:ser>
        <c:dLbls>
          <c:showLegendKey val="0"/>
          <c:showVal val="0"/>
          <c:showCatName val="0"/>
          <c:showSerName val="0"/>
          <c:showPercent val="0"/>
          <c:showBubbleSize val="0"/>
        </c:dLbls>
        <c:gapWidth val="182"/>
        <c:axId val="464515144"/>
        <c:axId val="464507224"/>
        <c:extLst>
          <c:ext xmlns:c15="http://schemas.microsoft.com/office/drawing/2012/chart" uri="{02D57815-91ED-43cb-92C2-25804820EDAC}">
            <c15:filteredBarSeries>
              <c15:ser>
                <c:idx val="0"/>
                <c:order val="0"/>
                <c:tx>
                  <c:strRef>
                    <c:extLst>
                      <c:ext uri="{02D57815-91ED-43cb-92C2-25804820EDAC}">
                        <c15:formulaRef>
                          <c15:sqref>Sheet6!$C$5</c15:sqref>
                        </c15:formulaRef>
                      </c:ext>
                    </c:extLst>
                    <c:strCache>
                      <c:ptCount val="1"/>
                    </c:strCache>
                  </c:strRef>
                </c:tx>
                <c:spPr>
                  <a:solidFill>
                    <a:schemeClr val="accent1"/>
                  </a:solidFill>
                  <a:ln>
                    <a:noFill/>
                  </a:ln>
                  <a:effectLst/>
                </c:spPr>
                <c:invertIfNegative val="0"/>
                <c:cat>
                  <c:strRef>
                    <c:extLst>
                      <c:ext uri="{02D57815-91ED-43cb-92C2-25804820EDAC}">
                        <c15:formulaRef>
                          <c15:sqref>Sheet6!$D$3:$J$3</c15:sqref>
                        </c15:formulaRef>
                      </c:ext>
                    </c:extLst>
                    <c:strCache>
                      <c:ptCount val="5"/>
                      <c:pt idx="0">
                        <c:v>Roughage (straw, green grass, leaves, roadside grass)</c:v>
                      </c:pt>
                      <c:pt idx="1">
                        <c:v>Concentrate (Mustard oil cake, maize, broken rice, rice polish, salt,water,gram)</c:v>
                      </c:pt>
                      <c:pt idx="2">
                        <c:v>Commercial feed(Nourish,ACI)</c:v>
                      </c:pt>
                      <c:pt idx="3">
                        <c:v>handmade(broken rice,boiled rice)</c:v>
                      </c:pt>
                      <c:pt idx="4">
                        <c:v>uncoventional(kitchen waste,snail,jackfruit leaf)</c:v>
                      </c:pt>
                    </c:strCache>
                  </c:strRef>
                </c:cat>
                <c:val>
                  <c:numRef>
                    <c:extLst>
                      <c:ext uri="{02D57815-91ED-43cb-92C2-25804820EDAC}">
                        <c15:formulaRef>
                          <c15:sqref>Sheet6!$D$5:$J$5</c15:sqref>
                        </c15:formulaRef>
                      </c:ext>
                    </c:extLst>
                    <c:numCache>
                      <c:formatCode>General</c:formatCode>
                      <c:ptCount val="7"/>
                    </c:numCache>
                  </c:numRef>
                </c:val>
                <c:extLst>
                  <c:ext xmlns:c16="http://schemas.microsoft.com/office/drawing/2014/chart" uri="{C3380CC4-5D6E-409C-BE32-E72D297353CC}">
                    <c16:uniqueId val="{00000005-0D41-4B25-BE66-1E973E209BA2}"/>
                  </c:ext>
                </c:extLst>
              </c15:ser>
            </c15:filteredBarSeries>
            <c15:filteredBarSeries>
              <c15:ser>
                <c:idx val="4"/>
                <c:order val="4"/>
                <c:tx>
                  <c:strRef>
                    <c:extLst xmlns:c15="http://schemas.microsoft.com/office/drawing/2012/chart">
                      <c:ext xmlns:c15="http://schemas.microsoft.com/office/drawing/2012/chart" uri="{02D57815-91ED-43cb-92C2-25804820EDAC}">
                        <c15:formulaRef>
                          <c15:sqref>Sheet6!$C$9</c15:sqref>
                        </c15:formulaRef>
                      </c:ext>
                    </c:extLst>
                    <c:strCache>
                      <c:ptCount val="1"/>
                    </c:strCache>
                  </c:strRef>
                </c:tx>
                <c:spPr>
                  <a:solidFill>
                    <a:schemeClr val="accent5"/>
                  </a:solidFill>
                  <a:ln>
                    <a:noFill/>
                  </a:ln>
                  <a:effectLst/>
                </c:spPr>
                <c:invertIfNegative val="0"/>
                <c:cat>
                  <c:strRef>
                    <c:extLst xmlns:c15="http://schemas.microsoft.com/office/drawing/2012/chart">
                      <c:ext xmlns:c15="http://schemas.microsoft.com/office/drawing/2012/chart" uri="{02D57815-91ED-43cb-92C2-25804820EDAC}">
                        <c15:formulaRef>
                          <c15:sqref>Sheet6!$D$3:$J$3</c15:sqref>
                        </c15:formulaRef>
                      </c:ext>
                    </c:extLst>
                    <c:strCache>
                      <c:ptCount val="5"/>
                      <c:pt idx="0">
                        <c:v>Roughage (straw, green grass, leaves, roadside grass)</c:v>
                      </c:pt>
                      <c:pt idx="1">
                        <c:v>Concentrate (Mustard oil cake, maize, broken rice, rice polish, salt,water,gram)</c:v>
                      </c:pt>
                      <c:pt idx="2">
                        <c:v>Commercial feed(Nourish,ACI)</c:v>
                      </c:pt>
                      <c:pt idx="3">
                        <c:v>handmade(broken rice,boiled rice)</c:v>
                      </c:pt>
                      <c:pt idx="4">
                        <c:v>uncoventional(kitchen waste,snail,jackfruit leaf)</c:v>
                      </c:pt>
                    </c:strCache>
                  </c:strRef>
                </c:cat>
                <c:val>
                  <c:numRef>
                    <c:extLst xmlns:c15="http://schemas.microsoft.com/office/drawing/2012/chart">
                      <c:ext xmlns:c15="http://schemas.microsoft.com/office/drawing/2012/chart" uri="{02D57815-91ED-43cb-92C2-25804820EDAC}">
                        <c15:formulaRef>
                          <c15:sqref>Sheet6!$D$9:$J$9</c15:sqref>
                        </c15:formulaRef>
                      </c:ext>
                    </c:extLst>
                    <c:numCache>
                      <c:formatCode>General</c:formatCode>
                      <c:ptCount val="7"/>
                    </c:numCache>
                  </c:numRef>
                </c:val>
                <c:extLst xmlns:c15="http://schemas.microsoft.com/office/drawing/2012/chart">
                  <c:ext xmlns:c16="http://schemas.microsoft.com/office/drawing/2014/chart" uri="{C3380CC4-5D6E-409C-BE32-E72D297353CC}">
                    <c16:uniqueId val="{00000006-0D41-4B25-BE66-1E973E209BA2}"/>
                  </c:ext>
                </c:extLst>
              </c15:ser>
            </c15:filteredBarSeries>
            <c15:filteredBarSeries>
              <c15:ser>
                <c:idx val="7"/>
                <c:order val="7"/>
                <c:tx>
                  <c:strRef>
                    <c:extLst xmlns:c15="http://schemas.microsoft.com/office/drawing/2012/chart">
                      <c:ext xmlns:c15="http://schemas.microsoft.com/office/drawing/2012/chart" uri="{02D57815-91ED-43cb-92C2-25804820EDAC}">
                        <c15:formulaRef>
                          <c15:sqref>Sheet6!$C$12</c15:sqref>
                        </c15:formulaRef>
                      </c:ext>
                    </c:extLst>
                    <c:strCache>
                      <c:ptCount val="1"/>
                    </c:strCache>
                  </c:strRef>
                </c:tx>
                <c:spPr>
                  <a:solidFill>
                    <a:schemeClr val="accent2">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Sheet6!$D$3:$J$3</c15:sqref>
                        </c15:formulaRef>
                      </c:ext>
                    </c:extLst>
                    <c:strCache>
                      <c:ptCount val="5"/>
                      <c:pt idx="0">
                        <c:v>Roughage (straw, green grass, leaves, roadside grass)</c:v>
                      </c:pt>
                      <c:pt idx="1">
                        <c:v>Concentrate (Mustard oil cake, maize, broken rice, rice polish, salt,water,gram)</c:v>
                      </c:pt>
                      <c:pt idx="2">
                        <c:v>Commercial feed(Nourish,ACI)</c:v>
                      </c:pt>
                      <c:pt idx="3">
                        <c:v>handmade(broken rice,boiled rice)</c:v>
                      </c:pt>
                      <c:pt idx="4">
                        <c:v>uncoventional(kitchen waste,snail,jackfruit leaf)</c:v>
                      </c:pt>
                    </c:strCache>
                  </c:strRef>
                </c:cat>
                <c:val>
                  <c:numRef>
                    <c:extLst xmlns:c15="http://schemas.microsoft.com/office/drawing/2012/chart">
                      <c:ext xmlns:c15="http://schemas.microsoft.com/office/drawing/2012/chart" uri="{02D57815-91ED-43cb-92C2-25804820EDAC}">
                        <c15:formulaRef>
                          <c15:sqref>Sheet6!$D$12:$J$12</c15:sqref>
                        </c15:formulaRef>
                      </c:ext>
                    </c:extLst>
                    <c:numCache>
                      <c:formatCode>General</c:formatCode>
                      <c:ptCount val="7"/>
                    </c:numCache>
                  </c:numRef>
                </c:val>
                <c:extLst xmlns:c15="http://schemas.microsoft.com/office/drawing/2012/chart">
                  <c:ext xmlns:c16="http://schemas.microsoft.com/office/drawing/2014/chart" uri="{C3380CC4-5D6E-409C-BE32-E72D297353CC}">
                    <c16:uniqueId val="{00000007-0D41-4B25-BE66-1E973E209BA2}"/>
                  </c:ext>
                </c:extLst>
              </c15:ser>
            </c15:filteredBarSeries>
            <c15:filteredBarSeries>
              <c15:ser>
                <c:idx val="8"/>
                <c:order val="8"/>
                <c:tx>
                  <c:strRef>
                    <c:extLst xmlns:c15="http://schemas.microsoft.com/office/drawing/2012/chart">
                      <c:ext xmlns:c15="http://schemas.microsoft.com/office/drawing/2012/chart" uri="{02D57815-91ED-43cb-92C2-25804820EDAC}">
                        <c15:formulaRef>
                          <c15:sqref>Sheet6!$C$13</c15:sqref>
                        </c15:formulaRef>
                      </c:ext>
                    </c:extLst>
                    <c:strCache>
                      <c:ptCount val="1"/>
                    </c:strCache>
                  </c:strRef>
                </c:tx>
                <c:spPr>
                  <a:solidFill>
                    <a:schemeClr val="accent3">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Sheet6!$D$3:$J$3</c15:sqref>
                        </c15:formulaRef>
                      </c:ext>
                    </c:extLst>
                    <c:strCache>
                      <c:ptCount val="5"/>
                      <c:pt idx="0">
                        <c:v>Roughage (straw, green grass, leaves, roadside grass)</c:v>
                      </c:pt>
                      <c:pt idx="1">
                        <c:v>Concentrate (Mustard oil cake, maize, broken rice, rice polish, salt,water,gram)</c:v>
                      </c:pt>
                      <c:pt idx="2">
                        <c:v>Commercial feed(Nourish,ACI)</c:v>
                      </c:pt>
                      <c:pt idx="3">
                        <c:v>handmade(broken rice,boiled rice)</c:v>
                      </c:pt>
                      <c:pt idx="4">
                        <c:v>uncoventional(kitchen waste,snail,jackfruit leaf)</c:v>
                      </c:pt>
                    </c:strCache>
                  </c:strRef>
                </c:cat>
                <c:val>
                  <c:numRef>
                    <c:extLst xmlns:c15="http://schemas.microsoft.com/office/drawing/2012/chart">
                      <c:ext xmlns:c15="http://schemas.microsoft.com/office/drawing/2012/chart" uri="{02D57815-91ED-43cb-92C2-25804820EDAC}">
                        <c15:formulaRef>
                          <c15:sqref>Sheet6!$D$13:$J$13</c15:sqref>
                        </c15:formulaRef>
                      </c:ext>
                    </c:extLst>
                    <c:numCache>
                      <c:formatCode>General</c:formatCode>
                      <c:ptCount val="7"/>
                    </c:numCache>
                  </c:numRef>
                </c:val>
                <c:extLst xmlns:c15="http://schemas.microsoft.com/office/drawing/2012/chart">
                  <c:ext xmlns:c16="http://schemas.microsoft.com/office/drawing/2014/chart" uri="{C3380CC4-5D6E-409C-BE32-E72D297353CC}">
                    <c16:uniqueId val="{00000008-0D41-4B25-BE66-1E973E209BA2}"/>
                  </c:ext>
                </c:extLst>
              </c15:ser>
            </c15:filteredBarSeries>
            <c15:filteredBarSeries>
              <c15:ser>
                <c:idx val="9"/>
                <c:order val="9"/>
                <c:tx>
                  <c:strRef>
                    <c:extLst xmlns:c15="http://schemas.microsoft.com/office/drawing/2012/chart">
                      <c:ext xmlns:c15="http://schemas.microsoft.com/office/drawing/2012/chart" uri="{02D57815-91ED-43cb-92C2-25804820EDAC}">
                        <c15:formulaRef>
                          <c15:sqref>Sheet6!$C$14</c15:sqref>
                        </c15:formulaRef>
                      </c:ext>
                    </c:extLst>
                    <c:strCache>
                      <c:ptCount val="1"/>
                    </c:strCache>
                  </c:strRef>
                </c:tx>
                <c:spPr>
                  <a:solidFill>
                    <a:schemeClr val="accent4">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Sheet6!$D$3:$J$3</c15:sqref>
                        </c15:formulaRef>
                      </c:ext>
                    </c:extLst>
                    <c:strCache>
                      <c:ptCount val="5"/>
                      <c:pt idx="0">
                        <c:v>Roughage (straw, green grass, leaves, roadside grass)</c:v>
                      </c:pt>
                      <c:pt idx="1">
                        <c:v>Concentrate (Mustard oil cake, maize, broken rice, rice polish, salt,water,gram)</c:v>
                      </c:pt>
                      <c:pt idx="2">
                        <c:v>Commercial feed(Nourish,ACI)</c:v>
                      </c:pt>
                      <c:pt idx="3">
                        <c:v>handmade(broken rice,boiled rice)</c:v>
                      </c:pt>
                      <c:pt idx="4">
                        <c:v>uncoventional(kitchen waste,snail,jackfruit leaf)</c:v>
                      </c:pt>
                    </c:strCache>
                  </c:strRef>
                </c:cat>
                <c:val>
                  <c:numRef>
                    <c:extLst xmlns:c15="http://schemas.microsoft.com/office/drawing/2012/chart">
                      <c:ext xmlns:c15="http://schemas.microsoft.com/office/drawing/2012/chart" uri="{02D57815-91ED-43cb-92C2-25804820EDAC}">
                        <c15:formulaRef>
                          <c15:sqref>Sheet6!$D$14:$J$14</c15:sqref>
                        </c15:formulaRef>
                      </c:ext>
                    </c:extLst>
                    <c:numCache>
                      <c:formatCode>General</c:formatCode>
                      <c:ptCount val="7"/>
                    </c:numCache>
                  </c:numRef>
                </c:val>
                <c:extLst xmlns:c15="http://schemas.microsoft.com/office/drawing/2012/chart">
                  <c:ext xmlns:c16="http://schemas.microsoft.com/office/drawing/2014/chart" uri="{C3380CC4-5D6E-409C-BE32-E72D297353CC}">
                    <c16:uniqueId val="{00000009-0D41-4B25-BE66-1E973E209BA2}"/>
                  </c:ext>
                </c:extLst>
              </c15:ser>
            </c15:filteredBarSeries>
            <c15:filteredBarSeries>
              <c15:ser>
                <c:idx val="10"/>
                <c:order val="10"/>
                <c:tx>
                  <c:strRef>
                    <c:extLst xmlns:c15="http://schemas.microsoft.com/office/drawing/2012/chart">
                      <c:ext xmlns:c15="http://schemas.microsoft.com/office/drawing/2012/chart" uri="{02D57815-91ED-43cb-92C2-25804820EDAC}">
                        <c15:formulaRef>
                          <c15:sqref>Sheet6!$C$15</c15:sqref>
                        </c15:formulaRef>
                      </c:ext>
                    </c:extLst>
                    <c:strCache>
                      <c:ptCount val="1"/>
                    </c:strCache>
                  </c:strRef>
                </c:tx>
                <c:spPr>
                  <a:solidFill>
                    <a:schemeClr val="accent5">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Sheet6!$D$3:$J$3</c15:sqref>
                        </c15:formulaRef>
                      </c:ext>
                    </c:extLst>
                    <c:strCache>
                      <c:ptCount val="5"/>
                      <c:pt idx="0">
                        <c:v>Roughage (straw, green grass, leaves, roadside grass)</c:v>
                      </c:pt>
                      <c:pt idx="1">
                        <c:v>Concentrate (Mustard oil cake, maize, broken rice, rice polish, salt,water,gram)</c:v>
                      </c:pt>
                      <c:pt idx="2">
                        <c:v>Commercial feed(Nourish,ACI)</c:v>
                      </c:pt>
                      <c:pt idx="3">
                        <c:v>handmade(broken rice,boiled rice)</c:v>
                      </c:pt>
                      <c:pt idx="4">
                        <c:v>uncoventional(kitchen waste,snail,jackfruit leaf)</c:v>
                      </c:pt>
                    </c:strCache>
                  </c:strRef>
                </c:cat>
                <c:val>
                  <c:numRef>
                    <c:extLst xmlns:c15="http://schemas.microsoft.com/office/drawing/2012/chart">
                      <c:ext xmlns:c15="http://schemas.microsoft.com/office/drawing/2012/chart" uri="{02D57815-91ED-43cb-92C2-25804820EDAC}">
                        <c15:formulaRef>
                          <c15:sqref>Sheet6!$D$15:$J$15</c15:sqref>
                        </c15:formulaRef>
                      </c:ext>
                    </c:extLst>
                    <c:numCache>
                      <c:formatCode>General</c:formatCode>
                      <c:ptCount val="7"/>
                    </c:numCache>
                  </c:numRef>
                </c:val>
                <c:extLst xmlns:c15="http://schemas.microsoft.com/office/drawing/2012/chart">
                  <c:ext xmlns:c16="http://schemas.microsoft.com/office/drawing/2014/chart" uri="{C3380CC4-5D6E-409C-BE32-E72D297353CC}">
                    <c16:uniqueId val="{0000000A-0D41-4B25-BE66-1E973E209BA2}"/>
                  </c:ext>
                </c:extLst>
              </c15:ser>
            </c15:filteredBarSeries>
            <c15:filteredBarSeries>
              <c15:ser>
                <c:idx val="11"/>
                <c:order val="11"/>
                <c:tx>
                  <c:strRef>
                    <c:extLst xmlns:c15="http://schemas.microsoft.com/office/drawing/2012/chart">
                      <c:ext xmlns:c15="http://schemas.microsoft.com/office/drawing/2012/chart" uri="{02D57815-91ED-43cb-92C2-25804820EDAC}">
                        <c15:formulaRef>
                          <c15:sqref>Sheet6!$C$16</c15:sqref>
                        </c15:formulaRef>
                      </c:ext>
                    </c:extLst>
                    <c:strCache>
                      <c:ptCount val="1"/>
                    </c:strCache>
                  </c:strRef>
                </c:tx>
                <c:spPr>
                  <a:solidFill>
                    <a:schemeClr val="accent6">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Sheet6!$D$3:$J$3</c15:sqref>
                        </c15:formulaRef>
                      </c:ext>
                    </c:extLst>
                    <c:strCache>
                      <c:ptCount val="5"/>
                      <c:pt idx="0">
                        <c:v>Roughage (straw, green grass, leaves, roadside grass)</c:v>
                      </c:pt>
                      <c:pt idx="1">
                        <c:v>Concentrate (Mustard oil cake, maize, broken rice, rice polish, salt,water,gram)</c:v>
                      </c:pt>
                      <c:pt idx="2">
                        <c:v>Commercial feed(Nourish,ACI)</c:v>
                      </c:pt>
                      <c:pt idx="3">
                        <c:v>handmade(broken rice,boiled rice)</c:v>
                      </c:pt>
                      <c:pt idx="4">
                        <c:v>uncoventional(kitchen waste,snail,jackfruit leaf)</c:v>
                      </c:pt>
                    </c:strCache>
                  </c:strRef>
                </c:cat>
                <c:val>
                  <c:numRef>
                    <c:extLst xmlns:c15="http://schemas.microsoft.com/office/drawing/2012/chart">
                      <c:ext xmlns:c15="http://schemas.microsoft.com/office/drawing/2012/chart" uri="{02D57815-91ED-43cb-92C2-25804820EDAC}">
                        <c15:formulaRef>
                          <c15:sqref>Sheet6!$D$16:$J$16</c15:sqref>
                        </c15:formulaRef>
                      </c:ext>
                    </c:extLst>
                    <c:numCache>
                      <c:formatCode>General</c:formatCode>
                      <c:ptCount val="7"/>
                    </c:numCache>
                  </c:numRef>
                </c:val>
                <c:extLst xmlns:c15="http://schemas.microsoft.com/office/drawing/2012/chart">
                  <c:ext xmlns:c16="http://schemas.microsoft.com/office/drawing/2014/chart" uri="{C3380CC4-5D6E-409C-BE32-E72D297353CC}">
                    <c16:uniqueId val="{0000000B-0D41-4B25-BE66-1E973E209BA2}"/>
                  </c:ext>
                </c:extLst>
              </c15:ser>
            </c15:filteredBarSeries>
          </c:ext>
        </c:extLst>
      </c:barChart>
      <c:catAx>
        <c:axId val="4645151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64507224"/>
        <c:crosses val="autoZero"/>
        <c:auto val="1"/>
        <c:lblAlgn val="ctr"/>
        <c:lblOffset val="100"/>
        <c:noMultiLvlLbl val="0"/>
      </c:catAx>
      <c:valAx>
        <c:axId val="464507224"/>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645151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Diseases of Goat</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tx>
            <c:strRef>
              <c:f>Sheet14!$M$3</c:f>
              <c:strCache>
                <c:ptCount val="1"/>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00A4-442D-AA83-8246636401DE}"/>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00A4-442D-AA83-8246636401DE}"/>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00A4-442D-AA83-8246636401DE}"/>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00A4-442D-AA83-8246636401DE}"/>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00A4-442D-AA83-8246636401DE}"/>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Sheet14!$L$4:$L$8</c:f>
              <c:strCache>
                <c:ptCount val="3"/>
                <c:pt idx="0">
                  <c:v>PPR</c:v>
                </c:pt>
                <c:pt idx="1">
                  <c:v>Pneumonia</c:v>
                </c:pt>
                <c:pt idx="2">
                  <c:v>Fever</c:v>
                </c:pt>
              </c:strCache>
            </c:strRef>
          </c:cat>
          <c:val>
            <c:numRef>
              <c:f>Sheet14!$M$4:$M$8</c:f>
              <c:numCache>
                <c:formatCode>General</c:formatCode>
                <c:ptCount val="5"/>
                <c:pt idx="0">
                  <c:v>52</c:v>
                </c:pt>
                <c:pt idx="1">
                  <c:v>12</c:v>
                </c:pt>
                <c:pt idx="2">
                  <c:v>36</c:v>
                </c:pt>
              </c:numCache>
            </c:numRef>
          </c:val>
          <c:extLst>
            <c:ext xmlns:c16="http://schemas.microsoft.com/office/drawing/2014/chart" uri="{C3380CC4-5D6E-409C-BE32-E72D297353CC}">
              <c16:uniqueId val="{0000000A-00A4-442D-AA83-8246636401DE}"/>
            </c:ext>
          </c:extLst>
        </c:ser>
        <c:dLbls>
          <c:dLblPos val="ctr"/>
          <c:showLegendKey val="0"/>
          <c:showVal val="0"/>
          <c:showCatName val="0"/>
          <c:showSerName val="0"/>
          <c:showPercent val="1"/>
          <c:showBubbleSize val="0"/>
          <c:showLeaderLines val="1"/>
        </c:dLbls>
        <c:firstSliceAng val="0"/>
        <c:extLst>
          <c:ext xmlns:c15="http://schemas.microsoft.com/office/drawing/2012/chart" uri="{02D57815-91ED-43cb-92C2-25804820EDAC}">
            <c15:filteredPieSeries>
              <c15:ser>
                <c:idx val="1"/>
                <c:order val="1"/>
                <c:tx>
                  <c:strRef>
                    <c:extLst>
                      <c:ext uri="{02D57815-91ED-43cb-92C2-25804820EDAC}">
                        <c15:formulaRef>
                          <c15:sqref>Sheet14!$N$3</c15:sqref>
                        </c15:formulaRef>
                      </c:ext>
                    </c:extLst>
                    <c:strCache>
                      <c:ptCount val="1"/>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C-00A4-442D-AA83-8246636401DE}"/>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E-00A4-442D-AA83-8246636401DE}"/>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0-00A4-442D-AA83-8246636401DE}"/>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2-00A4-442D-AA83-8246636401DE}"/>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4-00A4-442D-AA83-8246636401DE}"/>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uri="{CE6537A1-D6FC-4f65-9D91-7224C49458BB}"/>
                  </c:extLst>
                </c:dLbls>
                <c:cat>
                  <c:strRef>
                    <c:extLst>
                      <c:ext uri="{02D57815-91ED-43cb-92C2-25804820EDAC}">
                        <c15:formulaRef>
                          <c15:sqref>Sheet14!$L$4:$L$8</c15:sqref>
                        </c15:formulaRef>
                      </c:ext>
                    </c:extLst>
                    <c:strCache>
                      <c:ptCount val="3"/>
                      <c:pt idx="0">
                        <c:v>PPR</c:v>
                      </c:pt>
                      <c:pt idx="1">
                        <c:v>Pneumonia</c:v>
                      </c:pt>
                      <c:pt idx="2">
                        <c:v>Fever</c:v>
                      </c:pt>
                    </c:strCache>
                  </c:strRef>
                </c:cat>
                <c:val>
                  <c:numRef>
                    <c:extLst>
                      <c:ext uri="{02D57815-91ED-43cb-92C2-25804820EDAC}">
                        <c15:formulaRef>
                          <c15:sqref>Sheet14!$N$4:$N$8</c15:sqref>
                        </c15:formulaRef>
                      </c:ext>
                    </c:extLst>
                    <c:numCache>
                      <c:formatCode>General</c:formatCode>
                      <c:ptCount val="5"/>
                    </c:numCache>
                  </c:numRef>
                </c:val>
                <c:extLst>
                  <c:ext xmlns:c16="http://schemas.microsoft.com/office/drawing/2014/chart" uri="{C3380CC4-5D6E-409C-BE32-E72D297353CC}">
                    <c16:uniqueId val="{00000015-00A4-442D-AA83-8246636401DE}"/>
                  </c:ext>
                </c:extLst>
              </c15:ser>
            </c15:filteredPieSeries>
          </c:ext>
        </c:extLst>
      </c:pieChart>
      <c:spPr>
        <a:noFill/>
        <a:ln>
          <a:noFill/>
        </a:ln>
        <a:effectLst/>
      </c:spPr>
    </c:plotArea>
    <c:legend>
      <c:legendPos val="r"/>
      <c:legendEntry>
        <c:idx val="3"/>
        <c:delete val="1"/>
      </c:legendEntry>
      <c:legendEntry>
        <c:idx val="4"/>
        <c:delete val="1"/>
      </c:legendEntry>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90">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4.xml><?xml version="1.0" encoding="utf-8"?>
<cs:chartStyle xmlns:cs="http://schemas.microsoft.com/office/drawing/2012/chartStyle" xmlns:a="http://schemas.openxmlformats.org/drawingml/2006/main" id="220">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5.xml><?xml version="1.0" encoding="utf-8"?>
<cs:chartStyle xmlns:cs="http://schemas.microsoft.com/office/drawing/2012/chartStyle" xmlns:a="http://schemas.openxmlformats.org/drawingml/2006/main" id="207">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6.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defRPr sz="900"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18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7183123"/>
            <a:ext cx="27980640" cy="15280640"/>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4114800" y="23053043"/>
            <a:ext cx="24688800" cy="10596877"/>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8B1F1E-E713-42BE-8D18-4B05EEFD717D}"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2A9C3D-599A-4D37-BC2F-EF6B6F9478BC}" type="slidenum">
              <a:rPr lang="en-US" smtClean="0"/>
              <a:t>‹#›</a:t>
            </a:fld>
            <a:endParaRPr lang="en-US"/>
          </a:p>
        </p:txBody>
      </p:sp>
    </p:spTree>
    <p:extLst>
      <p:ext uri="{BB962C8B-B14F-4D97-AF65-F5344CB8AC3E}">
        <p14:creationId xmlns:p14="http://schemas.microsoft.com/office/powerpoint/2010/main" val="2735794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8B1F1E-E713-42BE-8D18-4B05EEFD717D}"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2A9C3D-599A-4D37-BC2F-EF6B6F9478BC}" type="slidenum">
              <a:rPr lang="en-US" smtClean="0"/>
              <a:t>‹#›</a:t>
            </a:fld>
            <a:endParaRPr lang="en-US"/>
          </a:p>
        </p:txBody>
      </p:sp>
    </p:spTree>
    <p:extLst>
      <p:ext uri="{BB962C8B-B14F-4D97-AF65-F5344CB8AC3E}">
        <p14:creationId xmlns:p14="http://schemas.microsoft.com/office/powerpoint/2010/main" val="1982157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10942333"/>
            <a:ext cx="28392120" cy="18257517"/>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245997" y="29372573"/>
            <a:ext cx="28392120" cy="9601197"/>
          </a:xfrm>
        </p:spPr>
        <p:txBody>
          <a:bodyPr/>
          <a:lstStyle>
            <a:lvl1pPr marL="0" indent="0">
              <a:buNone/>
              <a:defRPr sz="8640">
                <a:solidFill>
                  <a:schemeClr val="tx1"/>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8B1F1E-E713-42BE-8D18-4B05EEFD717D}"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2A9C3D-599A-4D37-BC2F-EF6B6F9478BC}" type="slidenum">
              <a:rPr lang="en-US" smtClean="0"/>
              <a:t>‹#›</a:t>
            </a:fld>
            <a:endParaRPr lang="en-US"/>
          </a:p>
        </p:txBody>
      </p:sp>
    </p:spTree>
    <p:extLst>
      <p:ext uri="{BB962C8B-B14F-4D97-AF65-F5344CB8AC3E}">
        <p14:creationId xmlns:p14="http://schemas.microsoft.com/office/powerpoint/2010/main" val="1755650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8B1F1E-E713-42BE-8D18-4B05EEFD717D}"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2A9C3D-599A-4D37-BC2F-EF6B6F9478BC}" type="slidenum">
              <a:rPr lang="en-US" smtClean="0"/>
              <a:t>‹#›</a:t>
            </a:fld>
            <a:endParaRPr lang="en-US"/>
          </a:p>
        </p:txBody>
      </p:sp>
    </p:spTree>
    <p:extLst>
      <p:ext uri="{BB962C8B-B14F-4D97-AF65-F5344CB8AC3E}">
        <p14:creationId xmlns:p14="http://schemas.microsoft.com/office/powerpoint/2010/main" val="4007873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336810"/>
            <a:ext cx="2839212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10759443"/>
            <a:ext cx="13926024"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2267431" y="16032480"/>
            <a:ext cx="13926024"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10759443"/>
            <a:ext cx="13994608"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16664942" y="16032480"/>
            <a:ext cx="13994608"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8B1F1E-E713-42BE-8D18-4B05EEFD717D}"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2A9C3D-599A-4D37-BC2F-EF6B6F9478BC}" type="slidenum">
              <a:rPr lang="en-US" smtClean="0"/>
              <a:t>‹#›</a:t>
            </a:fld>
            <a:endParaRPr lang="en-US"/>
          </a:p>
        </p:txBody>
      </p:sp>
    </p:spTree>
    <p:extLst>
      <p:ext uri="{BB962C8B-B14F-4D97-AF65-F5344CB8AC3E}">
        <p14:creationId xmlns:p14="http://schemas.microsoft.com/office/powerpoint/2010/main" val="3998432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8B1F1E-E713-42BE-8D18-4B05EEFD717D}"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2A9C3D-599A-4D37-BC2F-EF6B6F9478BC}" type="slidenum">
              <a:rPr lang="en-US" smtClean="0"/>
              <a:t>‹#›</a:t>
            </a:fld>
            <a:endParaRPr lang="en-US"/>
          </a:p>
        </p:txBody>
      </p:sp>
    </p:spTree>
    <p:extLst>
      <p:ext uri="{BB962C8B-B14F-4D97-AF65-F5344CB8AC3E}">
        <p14:creationId xmlns:p14="http://schemas.microsoft.com/office/powerpoint/2010/main" val="142335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8B1F1E-E713-42BE-8D18-4B05EEFD717D}" type="datetimeFigureOut">
              <a:rPr lang="en-US" smtClean="0"/>
              <a:t>10/21/2025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C2A9C3D-599A-4D37-BC2F-EF6B6F9478BC}" type="slidenum">
              <a:rPr lang="en-US" smtClean="0"/>
              <a:t>‹#›</a:t>
            </a:fld>
            <a:endParaRPr lang="en-US"/>
          </a:p>
        </p:txBody>
      </p:sp>
    </p:spTree>
    <p:extLst>
      <p:ext uri="{BB962C8B-B14F-4D97-AF65-F5344CB8AC3E}">
        <p14:creationId xmlns:p14="http://schemas.microsoft.com/office/powerpoint/2010/main" val="1352966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3994608" y="6319530"/>
            <a:ext cx="16664940" cy="311912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B78B1F1E-E713-42BE-8D18-4B05EEFD717D}"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2A9C3D-599A-4D37-BC2F-EF6B6F9478BC}" type="slidenum">
              <a:rPr lang="en-US" smtClean="0"/>
              <a:t>‹#›</a:t>
            </a:fld>
            <a:endParaRPr lang="en-US"/>
          </a:p>
        </p:txBody>
      </p:sp>
    </p:spTree>
    <p:extLst>
      <p:ext uri="{BB962C8B-B14F-4D97-AF65-F5344CB8AC3E}">
        <p14:creationId xmlns:p14="http://schemas.microsoft.com/office/powerpoint/2010/main" val="1699645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6319530"/>
            <a:ext cx="16664940" cy="3119120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B78B1F1E-E713-42BE-8D18-4B05EEFD717D}"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2A9C3D-599A-4D37-BC2F-EF6B6F9478BC}" type="slidenum">
              <a:rPr lang="en-US" smtClean="0"/>
              <a:t>‹#›</a:t>
            </a:fld>
            <a:endParaRPr lang="en-US"/>
          </a:p>
        </p:txBody>
      </p:sp>
    </p:spTree>
    <p:extLst>
      <p:ext uri="{BB962C8B-B14F-4D97-AF65-F5344CB8AC3E}">
        <p14:creationId xmlns:p14="http://schemas.microsoft.com/office/powerpoint/2010/main" val="3969941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8B1F1E-E713-42BE-8D18-4B05EEFD717D}"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2A9C3D-599A-4D37-BC2F-EF6B6F9478BC}" type="slidenum">
              <a:rPr lang="en-US" smtClean="0"/>
              <a:t>‹#›</a:t>
            </a:fld>
            <a:endParaRPr lang="en-US"/>
          </a:p>
        </p:txBody>
      </p:sp>
    </p:spTree>
    <p:extLst>
      <p:ext uri="{BB962C8B-B14F-4D97-AF65-F5344CB8AC3E}">
        <p14:creationId xmlns:p14="http://schemas.microsoft.com/office/powerpoint/2010/main" val="2230201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336800"/>
            <a:ext cx="7098030"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2336800"/>
            <a:ext cx="20882610"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8B1F1E-E713-42BE-8D18-4B05EEFD717D}"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2A9C3D-599A-4D37-BC2F-EF6B6F9478BC}" type="slidenum">
              <a:rPr lang="en-US" smtClean="0"/>
              <a:t>‹#›</a:t>
            </a:fld>
            <a:endParaRPr lang="en-US"/>
          </a:p>
        </p:txBody>
      </p:sp>
    </p:spTree>
    <p:extLst>
      <p:ext uri="{BB962C8B-B14F-4D97-AF65-F5344CB8AC3E}">
        <p14:creationId xmlns:p14="http://schemas.microsoft.com/office/powerpoint/2010/main" val="392132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336810"/>
            <a:ext cx="2839212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11684000"/>
            <a:ext cx="2839212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40680650"/>
            <a:ext cx="7406640" cy="2336800"/>
          </a:xfrm>
          <a:prstGeom prst="rect">
            <a:avLst/>
          </a:prstGeom>
        </p:spPr>
        <p:txBody>
          <a:bodyPr vert="horz" lIns="91440" tIns="45720" rIns="91440" bIns="45720" rtlCol="0" anchor="ctr"/>
          <a:lstStyle>
            <a:lvl1pPr algn="l">
              <a:defRPr sz="4320">
                <a:solidFill>
                  <a:schemeClr val="tx1">
                    <a:tint val="75000"/>
                  </a:schemeClr>
                </a:solidFill>
              </a:defRPr>
            </a:lvl1pPr>
          </a:lstStyle>
          <a:p>
            <a:fld id="{B78B1F1E-E713-42BE-8D18-4B05EEFD717D}" type="datetimeFigureOut">
              <a:rPr lang="en-US" smtClean="0"/>
              <a:t>10/21/2025</a:t>
            </a:fld>
            <a:endParaRPr lang="en-US"/>
          </a:p>
        </p:txBody>
      </p:sp>
      <p:sp>
        <p:nvSpPr>
          <p:cNvPr id="5" name="Footer Placeholder 4"/>
          <p:cNvSpPr>
            <a:spLocks noGrp="1"/>
          </p:cNvSpPr>
          <p:nvPr>
            <p:ph type="ftr" sz="quarter" idx="3"/>
          </p:nvPr>
        </p:nvSpPr>
        <p:spPr>
          <a:xfrm>
            <a:off x="10904220" y="40680650"/>
            <a:ext cx="11109960" cy="23368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48620" y="40680650"/>
            <a:ext cx="7406640" cy="2336800"/>
          </a:xfrm>
          <a:prstGeom prst="rect">
            <a:avLst/>
          </a:prstGeom>
        </p:spPr>
        <p:txBody>
          <a:bodyPr vert="horz" lIns="91440" tIns="45720" rIns="91440" bIns="45720" rtlCol="0" anchor="ctr"/>
          <a:lstStyle>
            <a:lvl1pPr algn="r">
              <a:defRPr sz="4320">
                <a:solidFill>
                  <a:schemeClr val="tx1">
                    <a:tint val="75000"/>
                  </a:schemeClr>
                </a:solidFill>
              </a:defRPr>
            </a:lvl1pPr>
          </a:lstStyle>
          <a:p>
            <a:fld id="{BC2A9C3D-599A-4D37-BC2F-EF6B6F9478BC}" type="slidenum">
              <a:rPr lang="en-US" smtClean="0"/>
              <a:t>‹#›</a:t>
            </a:fld>
            <a:endParaRPr lang="en-US"/>
          </a:p>
        </p:txBody>
      </p:sp>
    </p:spTree>
    <p:extLst>
      <p:ext uri="{BB962C8B-B14F-4D97-AF65-F5344CB8AC3E}">
        <p14:creationId xmlns:p14="http://schemas.microsoft.com/office/powerpoint/2010/main" val="14668594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hart" Target="../charts/chart4.xml"/><Relationship Id="rId13" Type="http://schemas.openxmlformats.org/officeDocument/2006/relationships/chart" Target="../charts/chart9.xml"/><Relationship Id="rId18" Type="http://schemas.openxmlformats.org/officeDocument/2006/relationships/image" Target="../media/image4.png"/><Relationship Id="rId3" Type="http://schemas.openxmlformats.org/officeDocument/2006/relationships/image" Target="../media/image2.jpg"/><Relationship Id="rId21" Type="http://schemas.openxmlformats.org/officeDocument/2006/relationships/chart" Target="../charts/chart14.xml"/><Relationship Id="rId7" Type="http://schemas.openxmlformats.org/officeDocument/2006/relationships/image" Target="../media/image3.jpeg"/><Relationship Id="rId12" Type="http://schemas.openxmlformats.org/officeDocument/2006/relationships/chart" Target="../charts/chart8.xml"/><Relationship Id="rId17" Type="http://schemas.openxmlformats.org/officeDocument/2006/relationships/chart" Target="../charts/chart13.xml"/><Relationship Id="rId2" Type="http://schemas.openxmlformats.org/officeDocument/2006/relationships/image" Target="../media/image1.png"/><Relationship Id="rId16" Type="http://schemas.openxmlformats.org/officeDocument/2006/relationships/chart" Target="../charts/chart12.xml"/><Relationship Id="rId20"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chart" Target="../charts/chart3.xml"/><Relationship Id="rId11" Type="http://schemas.openxmlformats.org/officeDocument/2006/relationships/chart" Target="../charts/chart7.xml"/><Relationship Id="rId5" Type="http://schemas.openxmlformats.org/officeDocument/2006/relationships/chart" Target="../charts/chart2.xml"/><Relationship Id="rId15" Type="http://schemas.openxmlformats.org/officeDocument/2006/relationships/chart" Target="../charts/chart11.xml"/><Relationship Id="rId10" Type="http://schemas.openxmlformats.org/officeDocument/2006/relationships/chart" Target="../charts/chart6.xml"/><Relationship Id="rId19" Type="http://schemas.openxmlformats.org/officeDocument/2006/relationships/image" Target="../media/image5.png"/><Relationship Id="rId4" Type="http://schemas.openxmlformats.org/officeDocument/2006/relationships/chart" Target="../charts/chart1.xml"/><Relationship Id="rId9" Type="http://schemas.openxmlformats.org/officeDocument/2006/relationships/chart" Target="../charts/chart5.xml"/><Relationship Id="rId14" Type="http://schemas.openxmlformats.org/officeDocument/2006/relationships/chart" Target="../charts/char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CE511F-B799-463C-967F-A26D66C4B8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633" y="1319734"/>
            <a:ext cx="5157401" cy="4593673"/>
          </a:xfrm>
          <a:prstGeom prst="rect">
            <a:avLst/>
          </a:prstGeom>
        </p:spPr>
      </p:pic>
      <p:sp>
        <p:nvSpPr>
          <p:cNvPr id="5" name="TextBox 4">
            <a:extLst>
              <a:ext uri="{FF2B5EF4-FFF2-40B4-BE49-F238E27FC236}">
                <a16:creationId xmlns:a16="http://schemas.microsoft.com/office/drawing/2014/main" id="{6E72914E-51B8-45BC-A915-D4C2D2B05A73}"/>
              </a:ext>
            </a:extLst>
          </p:cNvPr>
          <p:cNvSpPr txBox="1"/>
          <p:nvPr/>
        </p:nvSpPr>
        <p:spPr>
          <a:xfrm>
            <a:off x="4163069" y="516576"/>
            <a:ext cx="24261298" cy="6832640"/>
          </a:xfrm>
          <a:prstGeom prst="rect">
            <a:avLst/>
          </a:prstGeom>
          <a:noFill/>
        </p:spPr>
        <p:txBody>
          <a:bodyPr wrap="square" rtlCol="0">
            <a:spAutoFit/>
          </a:bodyPr>
          <a:lstStyle/>
          <a:p>
            <a:pPr algn="ctr"/>
            <a:r>
              <a:rPr lang="en-US" sz="8000" b="1" dirty="0">
                <a:latin typeface="Rockwell" panose="02060603020205020403" pitchFamily="18" charset="0"/>
              </a:rPr>
              <a:t> </a:t>
            </a:r>
            <a:r>
              <a:rPr lang="en-US" sz="5400" b="1" dirty="0">
                <a:latin typeface="Rockwell" panose="02060603020205020403" pitchFamily="18" charset="0"/>
              </a:rPr>
              <a:t>POSTER TITLE: </a:t>
            </a:r>
            <a:r>
              <a:rPr lang="en-US" sz="4800" b="1" dirty="0">
                <a:latin typeface="Rockwell" panose="02060603020205020403" pitchFamily="18" charset="0"/>
              </a:rPr>
              <a:t>Household Level Data Collection and Assessment of     Livestock and Poultry Related Parameter in Sirajganj Sadar Upazila</a:t>
            </a:r>
          </a:p>
          <a:p>
            <a:pPr algn="ctr"/>
            <a:r>
              <a:rPr lang="en-US" sz="4800" b="1" dirty="0">
                <a:latin typeface="Rockwell" panose="02060603020205020403" pitchFamily="18" charset="0"/>
              </a:rPr>
              <a:t> </a:t>
            </a:r>
            <a:r>
              <a:rPr lang="en-US" sz="5400" b="1" dirty="0">
                <a:latin typeface="Rockwell" panose="02060603020205020403" pitchFamily="18" charset="0"/>
              </a:rPr>
              <a:t>AH5002: Household Level Field Work  </a:t>
            </a:r>
          </a:p>
          <a:p>
            <a:pPr algn="ctr"/>
            <a:r>
              <a:rPr lang="en-US" sz="5600" dirty="0">
                <a:latin typeface="Rockwell" panose="02060603020205020403" pitchFamily="18" charset="0"/>
              </a:rPr>
              <a:t>Siam Khan</a:t>
            </a:r>
          </a:p>
          <a:p>
            <a:pPr algn="ctr"/>
            <a:r>
              <a:rPr lang="en-US" sz="4800" dirty="0">
                <a:latin typeface="Rockwell" panose="02060603020205020403" pitchFamily="18" charset="0"/>
              </a:rPr>
              <a:t>ID No: 2003165, Registration No:51576</a:t>
            </a:r>
          </a:p>
          <a:p>
            <a:pPr algn="ctr"/>
            <a:r>
              <a:rPr lang="en-US" sz="4800" dirty="0">
                <a:latin typeface="Rockwell" panose="02060603020205020403" pitchFamily="18" charset="0"/>
              </a:rPr>
              <a:t>AH5002: Household Level Field Work</a:t>
            </a:r>
          </a:p>
          <a:p>
            <a:pPr algn="ctr"/>
            <a:r>
              <a:rPr lang="en-US" sz="4800" dirty="0">
                <a:latin typeface="Rockwell" panose="02060603020205020403" pitchFamily="18" charset="0"/>
              </a:rPr>
              <a:t>B.Sc. A.H. (Hons.) Level 5 Semester 1 January-June/2024</a:t>
            </a:r>
          </a:p>
          <a:p>
            <a:pPr algn="ctr"/>
            <a:r>
              <a:rPr lang="en-US" sz="5600" dirty="0">
                <a:latin typeface="Rockwell" panose="02060603020205020403" pitchFamily="18" charset="0"/>
              </a:rPr>
              <a:t>Supervisor: Professor Dr. Mohammad Shamsul </a:t>
            </a:r>
            <a:r>
              <a:rPr lang="en-US" sz="5600">
                <a:latin typeface="Rockwell" panose="02060603020205020403" pitchFamily="18" charset="0"/>
              </a:rPr>
              <a:t>Alam Bhuiyan</a:t>
            </a:r>
            <a:endParaRPr lang="en-US" sz="5600" dirty="0">
              <a:latin typeface="Rockwell" panose="02060603020205020403" pitchFamily="18" charset="0"/>
            </a:endParaRPr>
          </a:p>
        </p:txBody>
      </p:sp>
      <p:pic>
        <p:nvPicPr>
          <p:cNvPr id="6" name="Picture 5">
            <a:extLst>
              <a:ext uri="{FF2B5EF4-FFF2-40B4-BE49-F238E27FC236}">
                <a16:creationId xmlns:a16="http://schemas.microsoft.com/office/drawing/2014/main" id="{685A454F-6BB2-4188-9404-248A586410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48443" y="977933"/>
            <a:ext cx="4957324" cy="5277273"/>
          </a:xfrm>
          <a:prstGeom prst="rect">
            <a:avLst/>
          </a:prstGeom>
        </p:spPr>
      </p:pic>
      <p:cxnSp>
        <p:nvCxnSpPr>
          <p:cNvPr id="7" name="Straight Connector 6">
            <a:extLst>
              <a:ext uri="{FF2B5EF4-FFF2-40B4-BE49-F238E27FC236}">
                <a16:creationId xmlns:a16="http://schemas.microsoft.com/office/drawing/2014/main" id="{63618D9A-AA73-4CDC-B946-D100A95896B3}"/>
              </a:ext>
            </a:extLst>
          </p:cNvPr>
          <p:cNvCxnSpPr>
            <a:cxnSpLocks/>
          </p:cNvCxnSpPr>
          <p:nvPr/>
        </p:nvCxnSpPr>
        <p:spPr>
          <a:xfrm>
            <a:off x="912633" y="495225"/>
            <a:ext cx="31093134" cy="0"/>
          </a:xfrm>
          <a:prstGeom prst="line">
            <a:avLst/>
          </a:prstGeom>
          <a:ln w="57150"/>
        </p:spPr>
        <p:style>
          <a:lnRef idx="1">
            <a:schemeClr val="accent6"/>
          </a:lnRef>
          <a:fillRef idx="0">
            <a:schemeClr val="accent6"/>
          </a:fillRef>
          <a:effectRef idx="0">
            <a:schemeClr val="accent6"/>
          </a:effectRef>
          <a:fontRef idx="minor">
            <a:schemeClr val="tx1"/>
          </a:fontRef>
        </p:style>
      </p:cxnSp>
      <p:cxnSp>
        <p:nvCxnSpPr>
          <p:cNvPr id="10" name="Straight Connector 9">
            <a:extLst>
              <a:ext uri="{FF2B5EF4-FFF2-40B4-BE49-F238E27FC236}">
                <a16:creationId xmlns:a16="http://schemas.microsoft.com/office/drawing/2014/main" id="{CB085F02-BB48-46A0-8197-C532FCAB9062}"/>
              </a:ext>
            </a:extLst>
          </p:cNvPr>
          <p:cNvCxnSpPr>
            <a:cxnSpLocks/>
          </p:cNvCxnSpPr>
          <p:nvPr/>
        </p:nvCxnSpPr>
        <p:spPr>
          <a:xfrm>
            <a:off x="912633" y="7250084"/>
            <a:ext cx="31093134" cy="0"/>
          </a:xfrm>
          <a:prstGeom prst="line">
            <a:avLst/>
          </a:prstGeom>
          <a:ln w="57150"/>
        </p:spPr>
        <p:style>
          <a:lnRef idx="1">
            <a:schemeClr val="accent6"/>
          </a:lnRef>
          <a:fillRef idx="0">
            <a:schemeClr val="accent6"/>
          </a:fillRef>
          <a:effectRef idx="0">
            <a:schemeClr val="accent6"/>
          </a:effectRef>
          <a:fontRef idx="minor">
            <a:schemeClr val="tx1"/>
          </a:fontRef>
        </p:style>
      </p:cxnSp>
      <p:grpSp>
        <p:nvGrpSpPr>
          <p:cNvPr id="46" name="Group 45">
            <a:extLst>
              <a:ext uri="{FF2B5EF4-FFF2-40B4-BE49-F238E27FC236}">
                <a16:creationId xmlns:a16="http://schemas.microsoft.com/office/drawing/2014/main" id="{A455B1D2-63B1-4210-B1AA-289E51AF9B7D}"/>
              </a:ext>
            </a:extLst>
          </p:cNvPr>
          <p:cNvGrpSpPr/>
          <p:nvPr/>
        </p:nvGrpSpPr>
        <p:grpSpPr>
          <a:xfrm>
            <a:off x="716770" y="7480795"/>
            <a:ext cx="9841465" cy="1582702"/>
            <a:chOff x="717354" y="7972628"/>
            <a:chExt cx="9841465" cy="1582702"/>
          </a:xfrm>
        </p:grpSpPr>
        <p:sp>
          <p:nvSpPr>
            <p:cNvPr id="14" name="Rectangle: Rounded Corners 13">
              <a:extLst>
                <a:ext uri="{FF2B5EF4-FFF2-40B4-BE49-F238E27FC236}">
                  <a16:creationId xmlns:a16="http://schemas.microsoft.com/office/drawing/2014/main" id="{759BBAD4-836D-4313-A5CB-19317CB6E8C0}"/>
                </a:ext>
              </a:extLst>
            </p:cNvPr>
            <p:cNvSpPr/>
            <p:nvPr/>
          </p:nvSpPr>
          <p:spPr>
            <a:xfrm>
              <a:off x="717354" y="7972628"/>
              <a:ext cx="9841465" cy="1582702"/>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EBC1489-C064-49D8-9B3A-570AC6776C6E}"/>
                </a:ext>
              </a:extLst>
            </p:cNvPr>
            <p:cNvSpPr txBox="1"/>
            <p:nvPr/>
          </p:nvSpPr>
          <p:spPr>
            <a:xfrm>
              <a:off x="3233144" y="8398931"/>
              <a:ext cx="4356375" cy="677108"/>
            </a:xfrm>
            <a:prstGeom prst="rect">
              <a:avLst/>
            </a:prstGeom>
            <a:noFill/>
          </p:spPr>
          <p:txBody>
            <a:bodyPr wrap="square" rtlCol="0">
              <a:spAutoFit/>
            </a:bodyPr>
            <a:lstStyle/>
            <a:p>
              <a:r>
                <a:rPr lang="en-US" sz="3800" b="1" dirty="0">
                  <a:latin typeface="Rockwell" panose="02060603020205020403" pitchFamily="18" charset="0"/>
                </a:rPr>
                <a:t>INTRODUCTION</a:t>
              </a:r>
            </a:p>
          </p:txBody>
        </p:sp>
      </p:grpSp>
      <p:grpSp>
        <p:nvGrpSpPr>
          <p:cNvPr id="47" name="Group 46">
            <a:extLst>
              <a:ext uri="{FF2B5EF4-FFF2-40B4-BE49-F238E27FC236}">
                <a16:creationId xmlns:a16="http://schemas.microsoft.com/office/drawing/2014/main" id="{2249C67C-A692-4A76-A56F-468CFD59559F}"/>
              </a:ext>
            </a:extLst>
          </p:cNvPr>
          <p:cNvGrpSpPr/>
          <p:nvPr/>
        </p:nvGrpSpPr>
        <p:grpSpPr>
          <a:xfrm>
            <a:off x="10967088" y="7480794"/>
            <a:ext cx="10429287" cy="1582702"/>
            <a:chOff x="10967672" y="7972627"/>
            <a:chExt cx="10429287" cy="1582702"/>
          </a:xfrm>
        </p:grpSpPr>
        <p:sp>
          <p:nvSpPr>
            <p:cNvPr id="15" name="Rectangle: Rounded Corners 14">
              <a:extLst>
                <a:ext uri="{FF2B5EF4-FFF2-40B4-BE49-F238E27FC236}">
                  <a16:creationId xmlns:a16="http://schemas.microsoft.com/office/drawing/2014/main" id="{B6371EAC-A005-4DAB-A9A1-11EDE0A5F534}"/>
                </a:ext>
              </a:extLst>
            </p:cNvPr>
            <p:cNvSpPr/>
            <p:nvPr/>
          </p:nvSpPr>
          <p:spPr>
            <a:xfrm>
              <a:off x="10967672" y="7972627"/>
              <a:ext cx="10429287" cy="1582702"/>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5E940F8-3E59-4711-81BC-C536D02774D1}"/>
                </a:ext>
              </a:extLst>
            </p:cNvPr>
            <p:cNvSpPr txBox="1"/>
            <p:nvPr/>
          </p:nvSpPr>
          <p:spPr>
            <a:xfrm>
              <a:off x="12906491" y="8360898"/>
              <a:ext cx="6775623" cy="677108"/>
            </a:xfrm>
            <a:prstGeom prst="rect">
              <a:avLst/>
            </a:prstGeom>
            <a:noFill/>
          </p:spPr>
          <p:txBody>
            <a:bodyPr wrap="square" rtlCol="0">
              <a:spAutoFit/>
            </a:bodyPr>
            <a:lstStyle/>
            <a:p>
              <a:r>
                <a:rPr lang="en-US" sz="3800" b="1" dirty="0">
                  <a:latin typeface="Rockwell" panose="02060603020205020403" pitchFamily="18" charset="0"/>
                </a:rPr>
                <a:t>RESULTS/ KEY FINDINGS</a:t>
              </a:r>
            </a:p>
          </p:txBody>
        </p:sp>
      </p:grpSp>
      <p:grpSp>
        <p:nvGrpSpPr>
          <p:cNvPr id="48" name="Group 47">
            <a:extLst>
              <a:ext uri="{FF2B5EF4-FFF2-40B4-BE49-F238E27FC236}">
                <a16:creationId xmlns:a16="http://schemas.microsoft.com/office/drawing/2014/main" id="{48135960-EC38-40EB-AC94-1AF26FB9B29B}"/>
              </a:ext>
            </a:extLst>
          </p:cNvPr>
          <p:cNvGrpSpPr/>
          <p:nvPr/>
        </p:nvGrpSpPr>
        <p:grpSpPr>
          <a:xfrm>
            <a:off x="21792616" y="7480793"/>
            <a:ext cx="10395447" cy="1582699"/>
            <a:chOff x="21793200" y="7972626"/>
            <a:chExt cx="10395447" cy="1582699"/>
          </a:xfrm>
        </p:grpSpPr>
        <p:sp>
          <p:nvSpPr>
            <p:cNvPr id="16" name="Rectangle: Rounded Corners 15">
              <a:extLst>
                <a:ext uri="{FF2B5EF4-FFF2-40B4-BE49-F238E27FC236}">
                  <a16:creationId xmlns:a16="http://schemas.microsoft.com/office/drawing/2014/main" id="{8EC12625-9881-49BF-8DD5-051CE9571731}"/>
                </a:ext>
              </a:extLst>
            </p:cNvPr>
            <p:cNvSpPr/>
            <p:nvPr/>
          </p:nvSpPr>
          <p:spPr>
            <a:xfrm>
              <a:off x="21793200" y="7972626"/>
              <a:ext cx="10395447" cy="158269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8E7CDBF-D07A-41DD-B3C8-0DD37F1573FD}"/>
                </a:ext>
              </a:extLst>
            </p:cNvPr>
            <p:cNvSpPr txBox="1"/>
            <p:nvPr/>
          </p:nvSpPr>
          <p:spPr>
            <a:xfrm>
              <a:off x="23812844" y="8360898"/>
              <a:ext cx="6575716" cy="677108"/>
            </a:xfrm>
            <a:prstGeom prst="rect">
              <a:avLst/>
            </a:prstGeom>
            <a:noFill/>
          </p:spPr>
          <p:txBody>
            <a:bodyPr wrap="square" rtlCol="0">
              <a:spAutoFit/>
            </a:bodyPr>
            <a:lstStyle/>
            <a:p>
              <a:r>
                <a:rPr lang="en-US" sz="3800" b="1" dirty="0">
                  <a:latin typeface="Rockwell" panose="02060603020205020403" pitchFamily="18" charset="0"/>
                </a:rPr>
                <a:t>RESULTS/ KEY FINDINGS</a:t>
              </a:r>
            </a:p>
          </p:txBody>
        </p:sp>
      </p:grpSp>
      <p:sp>
        <p:nvSpPr>
          <p:cNvPr id="23" name="Rectangle: Rounded Corners 22">
            <a:extLst>
              <a:ext uri="{FF2B5EF4-FFF2-40B4-BE49-F238E27FC236}">
                <a16:creationId xmlns:a16="http://schemas.microsoft.com/office/drawing/2014/main" id="{6E44B5E4-2C10-4A7F-B6C6-73EB307924F7}"/>
              </a:ext>
            </a:extLst>
          </p:cNvPr>
          <p:cNvSpPr/>
          <p:nvPr/>
        </p:nvSpPr>
        <p:spPr>
          <a:xfrm>
            <a:off x="236551" y="9118293"/>
            <a:ext cx="10062355" cy="12380499"/>
          </a:xfrm>
          <a:prstGeom prst="roundRect">
            <a:avLst>
              <a:gd name="adj" fmla="val 713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t>The Faculty of Animal Husbandry at Bangladesh Agricultural University (BAU), established in 1962, has been a pioneer in agricultural education in Bangladesh. To provide practical, hands-on experience to students, the faculty introduced internship semesters in 1999. These internships aim to bridge the gap between theoretical knowledge and real-world practices.</a:t>
            </a:r>
          </a:p>
          <a:p>
            <a:r>
              <a:rPr lang="en-US" b="1" dirty="0"/>
              <a:t>As part of the 21st internship batch, I undertook my internship at the Upazila Livestock Office and Veterinary Hospital in Sirajganj Sadar, Sirajganj. This fieldwork, conducted from May 25, 2025, involved collecting data from 100 rural households. The initiative was designed to explore the present scenario of livestock production, management practices, and disease prevalence at the grassroots level.</a:t>
            </a:r>
          </a:p>
          <a:p>
            <a:r>
              <a:rPr lang="en-US" b="1" dirty="0"/>
              <a:t>This experience also focused on enhancing communication, monitoring, and evaluation skills, critical for effective livestock extension services. Through this work, I aimed to contribute to the understanding of livestock farming challenges and provide data for future policy-making, addressing key issues in livestock and poultry management in rural Bangladesh.</a:t>
            </a:r>
          </a:p>
        </p:txBody>
      </p:sp>
      <p:sp>
        <p:nvSpPr>
          <p:cNvPr id="25" name="Rectangle: Rounded Corners 24">
            <a:extLst>
              <a:ext uri="{FF2B5EF4-FFF2-40B4-BE49-F238E27FC236}">
                <a16:creationId xmlns:a16="http://schemas.microsoft.com/office/drawing/2014/main" id="{3AA4E09B-47DA-4773-B3AB-9E73430D8807}"/>
              </a:ext>
            </a:extLst>
          </p:cNvPr>
          <p:cNvSpPr/>
          <p:nvPr/>
        </p:nvSpPr>
        <p:spPr>
          <a:xfrm>
            <a:off x="21712663" y="9201744"/>
            <a:ext cx="10624781" cy="16266144"/>
          </a:xfrm>
          <a:prstGeom prst="roundRect">
            <a:avLst>
              <a:gd name="adj" fmla="val 713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C96A9DC8-4F71-45F1-A0C0-9ADB00163100}"/>
              </a:ext>
            </a:extLst>
          </p:cNvPr>
          <p:cNvGrpSpPr/>
          <p:nvPr/>
        </p:nvGrpSpPr>
        <p:grpSpPr>
          <a:xfrm>
            <a:off x="716770" y="21609575"/>
            <a:ext cx="9841465" cy="1529588"/>
            <a:chOff x="716770" y="21784720"/>
            <a:chExt cx="9841465" cy="1529588"/>
          </a:xfrm>
        </p:grpSpPr>
        <p:sp>
          <p:nvSpPr>
            <p:cNvPr id="27" name="Rectangle: Rounded Corners 26">
              <a:extLst>
                <a:ext uri="{FF2B5EF4-FFF2-40B4-BE49-F238E27FC236}">
                  <a16:creationId xmlns:a16="http://schemas.microsoft.com/office/drawing/2014/main" id="{5C84B1D1-7FDE-4465-8619-43C3B97664BD}"/>
                </a:ext>
              </a:extLst>
            </p:cNvPr>
            <p:cNvSpPr/>
            <p:nvPr/>
          </p:nvSpPr>
          <p:spPr>
            <a:xfrm>
              <a:off x="716770" y="21784720"/>
              <a:ext cx="9841465" cy="1529588"/>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908F1BD-5365-4736-AAA5-7E72212ACF11}"/>
                </a:ext>
              </a:extLst>
            </p:cNvPr>
            <p:cNvSpPr txBox="1"/>
            <p:nvPr/>
          </p:nvSpPr>
          <p:spPr>
            <a:xfrm>
              <a:off x="3462476" y="22107385"/>
              <a:ext cx="4304662" cy="677108"/>
            </a:xfrm>
            <a:prstGeom prst="rect">
              <a:avLst/>
            </a:prstGeom>
            <a:noFill/>
          </p:spPr>
          <p:txBody>
            <a:bodyPr wrap="square" rtlCol="0">
              <a:spAutoFit/>
            </a:bodyPr>
            <a:lstStyle/>
            <a:p>
              <a:r>
                <a:rPr lang="en-US" sz="3800" b="1" dirty="0">
                  <a:latin typeface="Rockwell" panose="02060603020205020403" pitchFamily="18" charset="0"/>
                </a:rPr>
                <a:t>OBJECTIVES</a:t>
              </a:r>
            </a:p>
          </p:txBody>
        </p:sp>
      </p:grpSp>
      <p:sp>
        <p:nvSpPr>
          <p:cNvPr id="29" name="Rectangle: Rounded Corners 28">
            <a:extLst>
              <a:ext uri="{FF2B5EF4-FFF2-40B4-BE49-F238E27FC236}">
                <a16:creationId xmlns:a16="http://schemas.microsoft.com/office/drawing/2014/main" id="{5717F247-1A1C-499C-A192-2F98D2AAA40F}"/>
              </a:ext>
            </a:extLst>
          </p:cNvPr>
          <p:cNvSpPr/>
          <p:nvPr/>
        </p:nvSpPr>
        <p:spPr>
          <a:xfrm>
            <a:off x="550384" y="23193732"/>
            <a:ext cx="10040659" cy="6936808"/>
          </a:xfrm>
          <a:prstGeom prst="roundRect">
            <a:avLst>
              <a:gd name="adj" fmla="val 713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a16="http://schemas.microsoft.com/office/drawing/2014/main" id="{5486329D-9B2E-4C0A-A713-878B56907CBE}"/>
              </a:ext>
            </a:extLst>
          </p:cNvPr>
          <p:cNvGrpSpPr/>
          <p:nvPr/>
        </p:nvGrpSpPr>
        <p:grpSpPr>
          <a:xfrm>
            <a:off x="716770" y="30050045"/>
            <a:ext cx="9841465" cy="1536615"/>
            <a:chOff x="716770" y="30284505"/>
            <a:chExt cx="9841465" cy="1536615"/>
          </a:xfrm>
        </p:grpSpPr>
        <p:sp>
          <p:nvSpPr>
            <p:cNvPr id="30" name="Rectangle: Rounded Corners 29">
              <a:extLst>
                <a:ext uri="{FF2B5EF4-FFF2-40B4-BE49-F238E27FC236}">
                  <a16:creationId xmlns:a16="http://schemas.microsoft.com/office/drawing/2014/main" id="{A3E5F923-95BC-4DB9-8F6E-5CC32B4FEEB8}"/>
                </a:ext>
              </a:extLst>
            </p:cNvPr>
            <p:cNvSpPr/>
            <p:nvPr/>
          </p:nvSpPr>
          <p:spPr>
            <a:xfrm>
              <a:off x="716770" y="30284505"/>
              <a:ext cx="9841465" cy="1536615"/>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BFCBC943-5DF3-4B4C-99A8-3A40739CC7CA}"/>
                </a:ext>
              </a:extLst>
            </p:cNvPr>
            <p:cNvSpPr txBox="1"/>
            <p:nvPr/>
          </p:nvSpPr>
          <p:spPr>
            <a:xfrm>
              <a:off x="3336492" y="30618660"/>
              <a:ext cx="4529589" cy="677108"/>
            </a:xfrm>
            <a:prstGeom prst="rect">
              <a:avLst/>
            </a:prstGeom>
            <a:noFill/>
          </p:spPr>
          <p:txBody>
            <a:bodyPr wrap="square" rtlCol="0">
              <a:spAutoFit/>
            </a:bodyPr>
            <a:lstStyle/>
            <a:p>
              <a:r>
                <a:rPr lang="en-US" sz="3800" b="1" dirty="0">
                  <a:latin typeface="Rockwell" panose="02060603020205020403" pitchFamily="18" charset="0"/>
                </a:rPr>
                <a:t>METHODOLOGY</a:t>
              </a:r>
            </a:p>
          </p:txBody>
        </p:sp>
      </p:grpSp>
      <p:grpSp>
        <p:nvGrpSpPr>
          <p:cNvPr id="51" name="Group 50">
            <a:extLst>
              <a:ext uri="{FF2B5EF4-FFF2-40B4-BE49-F238E27FC236}">
                <a16:creationId xmlns:a16="http://schemas.microsoft.com/office/drawing/2014/main" id="{584E3FA6-1830-4AE5-A598-6535EF96D6C2}"/>
              </a:ext>
            </a:extLst>
          </p:cNvPr>
          <p:cNvGrpSpPr/>
          <p:nvPr/>
        </p:nvGrpSpPr>
        <p:grpSpPr>
          <a:xfrm>
            <a:off x="21933288" y="25618720"/>
            <a:ext cx="10466951" cy="1560064"/>
            <a:chOff x="21933288" y="25993856"/>
            <a:chExt cx="10466951" cy="1560064"/>
          </a:xfrm>
        </p:grpSpPr>
        <p:sp>
          <p:nvSpPr>
            <p:cNvPr id="33" name="Rectangle: Rounded Corners 32">
              <a:extLst>
                <a:ext uri="{FF2B5EF4-FFF2-40B4-BE49-F238E27FC236}">
                  <a16:creationId xmlns:a16="http://schemas.microsoft.com/office/drawing/2014/main" id="{1BC08986-1094-415F-96D3-086EB4FDA36A}"/>
                </a:ext>
              </a:extLst>
            </p:cNvPr>
            <p:cNvSpPr/>
            <p:nvPr/>
          </p:nvSpPr>
          <p:spPr>
            <a:xfrm>
              <a:off x="21933288" y="25993856"/>
              <a:ext cx="10466951" cy="1560064"/>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E44DD6B9-1D8A-4AA7-9679-523B7F700F03}"/>
                </a:ext>
              </a:extLst>
            </p:cNvPr>
            <p:cNvSpPr txBox="1"/>
            <p:nvPr/>
          </p:nvSpPr>
          <p:spPr>
            <a:xfrm>
              <a:off x="25216786" y="26407022"/>
              <a:ext cx="4708556" cy="677108"/>
            </a:xfrm>
            <a:prstGeom prst="rect">
              <a:avLst/>
            </a:prstGeom>
            <a:noFill/>
          </p:spPr>
          <p:txBody>
            <a:bodyPr wrap="square" rtlCol="0">
              <a:spAutoFit/>
            </a:bodyPr>
            <a:lstStyle/>
            <a:p>
              <a:r>
                <a:rPr lang="en-US" sz="3800" b="1" dirty="0">
                  <a:latin typeface="Rockwell" panose="02060603020205020403" pitchFamily="18" charset="0"/>
                </a:rPr>
                <a:t>CONCLUSION</a:t>
              </a:r>
            </a:p>
          </p:txBody>
        </p:sp>
      </p:grpSp>
      <p:sp>
        <p:nvSpPr>
          <p:cNvPr id="35" name="Rectangle: Rounded Corners 34">
            <a:extLst>
              <a:ext uri="{FF2B5EF4-FFF2-40B4-BE49-F238E27FC236}">
                <a16:creationId xmlns:a16="http://schemas.microsoft.com/office/drawing/2014/main" id="{BFC4EDE9-636A-4615-94C0-F84DAD5A5007}"/>
              </a:ext>
            </a:extLst>
          </p:cNvPr>
          <p:cNvSpPr/>
          <p:nvPr/>
        </p:nvSpPr>
        <p:spPr>
          <a:xfrm>
            <a:off x="21734585" y="27267879"/>
            <a:ext cx="10595316" cy="8627249"/>
          </a:xfrm>
          <a:prstGeom prst="roundRect">
            <a:avLst>
              <a:gd name="adj" fmla="val 713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61C0EE0B-D984-44BC-B984-B6933A28744B}"/>
              </a:ext>
            </a:extLst>
          </p:cNvPr>
          <p:cNvGrpSpPr/>
          <p:nvPr/>
        </p:nvGrpSpPr>
        <p:grpSpPr>
          <a:xfrm>
            <a:off x="21933289" y="36045960"/>
            <a:ext cx="10466950" cy="1535880"/>
            <a:chOff x="21933289" y="36045960"/>
            <a:chExt cx="10466950" cy="1535880"/>
          </a:xfrm>
        </p:grpSpPr>
        <p:sp>
          <p:nvSpPr>
            <p:cNvPr id="36" name="Rectangle: Rounded Corners 35">
              <a:extLst>
                <a:ext uri="{FF2B5EF4-FFF2-40B4-BE49-F238E27FC236}">
                  <a16:creationId xmlns:a16="http://schemas.microsoft.com/office/drawing/2014/main" id="{9A5C5131-83DD-4A2C-9C6E-15969EBB8754}"/>
                </a:ext>
              </a:extLst>
            </p:cNvPr>
            <p:cNvSpPr/>
            <p:nvPr/>
          </p:nvSpPr>
          <p:spPr>
            <a:xfrm>
              <a:off x="21933289" y="36045960"/>
              <a:ext cx="10466950" cy="153588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D288E2AE-AF75-450F-965D-7E29811B9CCE}"/>
                </a:ext>
              </a:extLst>
            </p:cNvPr>
            <p:cNvSpPr txBox="1"/>
            <p:nvPr/>
          </p:nvSpPr>
          <p:spPr>
            <a:xfrm>
              <a:off x="24388302" y="36380114"/>
              <a:ext cx="6343366" cy="677108"/>
            </a:xfrm>
            <a:prstGeom prst="rect">
              <a:avLst/>
            </a:prstGeom>
            <a:noFill/>
          </p:spPr>
          <p:txBody>
            <a:bodyPr wrap="square" rtlCol="0">
              <a:spAutoFit/>
            </a:bodyPr>
            <a:lstStyle/>
            <a:p>
              <a:r>
                <a:rPr lang="en-US" sz="3800" b="1" dirty="0">
                  <a:latin typeface="Rockwell" panose="02060603020205020403" pitchFamily="18" charset="0"/>
                </a:rPr>
                <a:t>ACKNOWLEDGEMENT</a:t>
              </a:r>
            </a:p>
          </p:txBody>
        </p:sp>
      </p:grpSp>
      <p:graphicFrame>
        <p:nvGraphicFramePr>
          <p:cNvPr id="2" name="Chart 1">
            <a:extLst>
              <a:ext uri="{FF2B5EF4-FFF2-40B4-BE49-F238E27FC236}">
                <a16:creationId xmlns:a16="http://schemas.microsoft.com/office/drawing/2014/main" id="{4168134D-2C9A-F943-DC81-DF82014DC811}"/>
              </a:ext>
            </a:extLst>
          </p:cNvPr>
          <p:cNvGraphicFramePr>
            <a:graphicFrameLocks/>
          </p:cNvGraphicFramePr>
          <p:nvPr>
            <p:extLst>
              <p:ext uri="{D42A27DB-BD31-4B8C-83A1-F6EECF244321}">
                <p14:modId xmlns:p14="http://schemas.microsoft.com/office/powerpoint/2010/main" val="4035533731"/>
              </p:ext>
            </p:extLst>
          </p:nvPr>
        </p:nvGraphicFramePr>
        <p:xfrm>
          <a:off x="11595911" y="9222153"/>
          <a:ext cx="9558750" cy="432183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1C9A67AE-ABBB-9D35-71C5-6B1FD53D2FA2}"/>
              </a:ext>
            </a:extLst>
          </p:cNvPr>
          <p:cNvGraphicFramePr>
            <a:graphicFrameLocks/>
          </p:cNvGraphicFramePr>
          <p:nvPr>
            <p:extLst>
              <p:ext uri="{D42A27DB-BD31-4B8C-83A1-F6EECF244321}">
                <p14:modId xmlns:p14="http://schemas.microsoft.com/office/powerpoint/2010/main" val="3687975040"/>
              </p:ext>
            </p:extLst>
          </p:nvPr>
        </p:nvGraphicFramePr>
        <p:xfrm>
          <a:off x="10529989" y="14033837"/>
          <a:ext cx="5305225" cy="379300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7" name="Table 16">
            <a:extLst>
              <a:ext uri="{FF2B5EF4-FFF2-40B4-BE49-F238E27FC236}">
                <a16:creationId xmlns:a16="http://schemas.microsoft.com/office/drawing/2014/main" id="{C7A563AB-D31D-88D3-9C74-3F4881AD85B7}"/>
              </a:ext>
            </a:extLst>
          </p:cNvPr>
          <p:cNvGraphicFramePr>
            <a:graphicFrameLocks noGrp="1"/>
          </p:cNvGraphicFramePr>
          <p:nvPr>
            <p:extLst>
              <p:ext uri="{D42A27DB-BD31-4B8C-83A1-F6EECF244321}">
                <p14:modId xmlns:p14="http://schemas.microsoft.com/office/powerpoint/2010/main" val="1738684936"/>
              </p:ext>
            </p:extLst>
          </p:nvPr>
        </p:nvGraphicFramePr>
        <p:xfrm>
          <a:off x="10643331" y="18349130"/>
          <a:ext cx="5642082" cy="3089462"/>
        </p:xfrm>
        <a:graphic>
          <a:graphicData uri="http://schemas.openxmlformats.org/drawingml/2006/table">
            <a:tbl>
              <a:tblPr firstRow="1" bandRow="1">
                <a:tableStyleId>{5C22544A-7EE6-4342-B048-85BDC9FD1C3A}</a:tableStyleId>
              </a:tblPr>
              <a:tblGrid>
                <a:gridCol w="2224325">
                  <a:extLst>
                    <a:ext uri="{9D8B030D-6E8A-4147-A177-3AD203B41FA5}">
                      <a16:colId xmlns:a16="http://schemas.microsoft.com/office/drawing/2014/main" val="1759162920"/>
                    </a:ext>
                  </a:extLst>
                </a:gridCol>
                <a:gridCol w="1616385">
                  <a:extLst>
                    <a:ext uri="{9D8B030D-6E8A-4147-A177-3AD203B41FA5}">
                      <a16:colId xmlns:a16="http://schemas.microsoft.com/office/drawing/2014/main" val="921539880"/>
                    </a:ext>
                  </a:extLst>
                </a:gridCol>
                <a:gridCol w="1801372">
                  <a:extLst>
                    <a:ext uri="{9D8B030D-6E8A-4147-A177-3AD203B41FA5}">
                      <a16:colId xmlns:a16="http://schemas.microsoft.com/office/drawing/2014/main" val="3375176779"/>
                    </a:ext>
                  </a:extLst>
                </a:gridCol>
              </a:tblGrid>
              <a:tr h="403236">
                <a:tc>
                  <a:txBody>
                    <a:bodyPr/>
                    <a:lstStyle/>
                    <a:p>
                      <a:pPr marL="0" marR="0" algn="ctr">
                        <a:lnSpc>
                          <a:spcPct val="107000"/>
                        </a:lnSpc>
                        <a:spcAft>
                          <a:spcPts val="800"/>
                        </a:spcAft>
                        <a:buNone/>
                      </a:pPr>
                      <a:r>
                        <a:rPr lang="en-US" sz="1200" kern="100" dirty="0">
                          <a:effectLst/>
                        </a:rPr>
                        <a:t>Parameter</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tc>
                  <a:txBody>
                    <a:bodyPr/>
                    <a:lstStyle/>
                    <a:p>
                      <a:pPr marL="0" marR="0" algn="ctr">
                        <a:lnSpc>
                          <a:spcPct val="107000"/>
                        </a:lnSpc>
                        <a:spcAft>
                          <a:spcPts val="800"/>
                        </a:spcAft>
                        <a:buNone/>
                      </a:pPr>
                      <a:r>
                        <a:rPr lang="en-US" sz="1200" kern="100">
                          <a:effectLst/>
                        </a:rPr>
                        <a:t>Deshi cattle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tc>
                  <a:txBody>
                    <a:bodyPr/>
                    <a:lstStyle/>
                    <a:p>
                      <a:pPr marL="0" marR="0" algn="ctr">
                        <a:lnSpc>
                          <a:spcPct val="115000"/>
                        </a:lnSpc>
                        <a:buNone/>
                      </a:pPr>
                      <a:r>
                        <a:rPr lang="en-US" sz="1200" kern="100" dirty="0">
                          <a:effectLst/>
                        </a:rPr>
                        <a:t>HF cross cattle</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extLst>
                  <a:ext uri="{0D108BD9-81ED-4DB2-BD59-A6C34878D82A}">
                    <a16:rowId xmlns:a16="http://schemas.microsoft.com/office/drawing/2014/main" val="2670002671"/>
                  </a:ext>
                </a:extLst>
              </a:tr>
              <a:tr h="388019">
                <a:tc>
                  <a:txBody>
                    <a:bodyPr/>
                    <a:lstStyle/>
                    <a:p>
                      <a:pPr marL="0" marR="0" algn="just">
                        <a:lnSpc>
                          <a:spcPct val="107000"/>
                        </a:lnSpc>
                        <a:spcAft>
                          <a:spcPts val="800"/>
                        </a:spcAft>
                        <a:buNone/>
                      </a:pPr>
                      <a:r>
                        <a:rPr lang="en-US" sz="1200" kern="100">
                          <a:effectLst/>
                        </a:rPr>
                        <a:t>Age at first calving(M)</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tc>
                  <a:txBody>
                    <a:bodyPr/>
                    <a:lstStyle/>
                    <a:p>
                      <a:pPr marL="0" marR="0" algn="just">
                        <a:lnSpc>
                          <a:spcPct val="107000"/>
                        </a:lnSpc>
                        <a:spcAft>
                          <a:spcPts val="800"/>
                        </a:spcAft>
                        <a:buNone/>
                      </a:pPr>
                      <a:r>
                        <a:rPr lang="en-US" sz="1200" kern="100" dirty="0">
                          <a:effectLst/>
                        </a:rPr>
                        <a:t>30-36</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tc>
                  <a:txBody>
                    <a:bodyPr/>
                    <a:lstStyle/>
                    <a:p>
                      <a:pPr marL="0" marR="0" algn="just">
                        <a:lnSpc>
                          <a:spcPct val="107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20-24</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extLst>
                  <a:ext uri="{0D108BD9-81ED-4DB2-BD59-A6C34878D82A}">
                    <a16:rowId xmlns:a16="http://schemas.microsoft.com/office/drawing/2014/main" val="789857323"/>
                  </a:ext>
                </a:extLst>
              </a:tr>
              <a:tr h="388019">
                <a:tc>
                  <a:txBody>
                    <a:bodyPr/>
                    <a:lstStyle/>
                    <a:p>
                      <a:pPr marL="0" marR="0" algn="just">
                        <a:lnSpc>
                          <a:spcPct val="107000"/>
                        </a:lnSpc>
                        <a:spcAft>
                          <a:spcPts val="800"/>
                        </a:spcAft>
                        <a:buNone/>
                      </a:pPr>
                      <a:r>
                        <a:rPr lang="en-US" sz="1200" kern="100">
                          <a:effectLst/>
                        </a:rPr>
                        <a:t>Lactation period(day)</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tc>
                  <a:txBody>
                    <a:bodyPr/>
                    <a:lstStyle/>
                    <a:p>
                      <a:pPr marL="0" marR="0" algn="just">
                        <a:lnSpc>
                          <a:spcPct val="107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210-230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tc>
                  <a:txBody>
                    <a:bodyPr/>
                    <a:lstStyle/>
                    <a:p>
                      <a:pPr marL="0" marR="0" algn="just">
                        <a:lnSpc>
                          <a:spcPct val="107000"/>
                        </a:lnSpc>
                        <a:spcAft>
                          <a:spcPts val="800"/>
                        </a:spcAft>
                        <a:buNone/>
                      </a:pPr>
                      <a:r>
                        <a:rPr lang="en-US" sz="1200" kern="100" dirty="0">
                          <a:effectLst/>
                        </a:rPr>
                        <a:t>270-290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extLst>
                  <a:ext uri="{0D108BD9-81ED-4DB2-BD59-A6C34878D82A}">
                    <a16:rowId xmlns:a16="http://schemas.microsoft.com/office/drawing/2014/main" val="425444230"/>
                  </a:ext>
                </a:extLst>
              </a:tr>
              <a:tr h="323961">
                <a:tc>
                  <a:txBody>
                    <a:bodyPr/>
                    <a:lstStyle/>
                    <a:p>
                      <a:pPr marL="0" marR="0" algn="just">
                        <a:lnSpc>
                          <a:spcPct val="107000"/>
                        </a:lnSpc>
                        <a:spcAft>
                          <a:spcPts val="800"/>
                        </a:spcAft>
                        <a:buNone/>
                      </a:pPr>
                      <a:r>
                        <a:rPr lang="en-US" sz="1200" kern="100">
                          <a:effectLst/>
                        </a:rPr>
                        <a:t>Litter size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tc>
                  <a:txBody>
                    <a:bodyPr/>
                    <a:lstStyle/>
                    <a:p>
                      <a:pPr marL="0" marR="0" algn="just">
                        <a:lnSpc>
                          <a:spcPct val="107000"/>
                        </a:lnSpc>
                        <a:spcAft>
                          <a:spcPts val="800"/>
                        </a:spcAft>
                        <a:buNone/>
                      </a:pPr>
                      <a:r>
                        <a:rPr lang="en-US" sz="1200" kern="100">
                          <a:effectLst/>
                        </a:rPr>
                        <a:t>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tc>
                  <a:txBody>
                    <a:bodyPr/>
                    <a:lstStyle/>
                    <a:p>
                      <a:pPr marL="0" marR="0" algn="just">
                        <a:lnSpc>
                          <a:spcPct val="107000"/>
                        </a:lnSpc>
                        <a:spcAft>
                          <a:spcPts val="800"/>
                        </a:spcAft>
                        <a:buNone/>
                      </a:pPr>
                      <a:r>
                        <a:rPr lang="en-US" sz="1200" kern="100">
                          <a:effectLst/>
                        </a:rPr>
                        <a:t>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extLst>
                  <a:ext uri="{0D108BD9-81ED-4DB2-BD59-A6C34878D82A}">
                    <a16:rowId xmlns:a16="http://schemas.microsoft.com/office/drawing/2014/main" val="869312581"/>
                  </a:ext>
                </a:extLst>
              </a:tr>
              <a:tr h="422170">
                <a:tc>
                  <a:txBody>
                    <a:bodyPr/>
                    <a:lstStyle/>
                    <a:p>
                      <a:pPr marL="0" marR="0" algn="just">
                        <a:lnSpc>
                          <a:spcPct val="107000"/>
                        </a:lnSpc>
                        <a:spcAft>
                          <a:spcPts val="800"/>
                        </a:spcAft>
                        <a:buNone/>
                      </a:pPr>
                      <a:r>
                        <a:rPr lang="en-US" sz="1200" kern="100">
                          <a:effectLst/>
                        </a:rPr>
                        <a:t>Post partum heat period(M)</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tc>
                  <a:txBody>
                    <a:bodyPr/>
                    <a:lstStyle/>
                    <a:p>
                      <a:pPr marL="0" marR="0" algn="just">
                        <a:lnSpc>
                          <a:spcPct val="107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3-5</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tc>
                  <a:txBody>
                    <a:bodyPr/>
                    <a:lstStyle/>
                    <a:p>
                      <a:pPr marL="0" marR="0" algn="just">
                        <a:lnSpc>
                          <a:spcPct val="107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2-3</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extLst>
                  <a:ext uri="{0D108BD9-81ED-4DB2-BD59-A6C34878D82A}">
                    <a16:rowId xmlns:a16="http://schemas.microsoft.com/office/drawing/2014/main" val="195927848"/>
                  </a:ext>
                </a:extLst>
              </a:tr>
              <a:tr h="388019">
                <a:tc>
                  <a:txBody>
                    <a:bodyPr/>
                    <a:lstStyle/>
                    <a:p>
                      <a:pPr marL="0" marR="0" algn="just">
                        <a:lnSpc>
                          <a:spcPct val="107000"/>
                        </a:lnSpc>
                        <a:spcAft>
                          <a:spcPts val="800"/>
                        </a:spcAft>
                        <a:buNone/>
                      </a:pPr>
                      <a:r>
                        <a:rPr lang="en-US" sz="1200" kern="100" dirty="0">
                          <a:effectLst/>
                        </a:rPr>
                        <a:t>Calving interval(M)</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tc>
                  <a:txBody>
                    <a:bodyPr/>
                    <a:lstStyle/>
                    <a:p>
                      <a:pPr marL="0" marR="0" algn="just">
                        <a:lnSpc>
                          <a:spcPct val="107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13-15</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tc>
                  <a:txBody>
                    <a:bodyPr/>
                    <a:lstStyle/>
                    <a:p>
                      <a:pPr marL="0" marR="0" algn="just">
                        <a:lnSpc>
                          <a:spcPct val="107000"/>
                        </a:lnSpc>
                        <a:spcAft>
                          <a:spcPts val="800"/>
                        </a:spcAft>
                        <a:buNone/>
                      </a:pPr>
                      <a:r>
                        <a:rPr lang="en-US" sz="1200" kern="100" dirty="0">
                          <a:effectLst/>
                        </a:rPr>
                        <a:t>12-13</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extLst>
                  <a:ext uri="{0D108BD9-81ED-4DB2-BD59-A6C34878D82A}">
                    <a16:rowId xmlns:a16="http://schemas.microsoft.com/office/drawing/2014/main" val="3853936837"/>
                  </a:ext>
                </a:extLst>
              </a:tr>
              <a:tr h="388019">
                <a:tc>
                  <a:txBody>
                    <a:bodyPr/>
                    <a:lstStyle/>
                    <a:p>
                      <a:pPr marL="0" marR="0" algn="just">
                        <a:lnSpc>
                          <a:spcPct val="107000"/>
                        </a:lnSpc>
                        <a:spcAft>
                          <a:spcPts val="800"/>
                        </a:spcAft>
                        <a:buNone/>
                      </a:pPr>
                      <a:r>
                        <a:rPr lang="en-US" sz="1200" kern="100">
                          <a:effectLst/>
                        </a:rPr>
                        <a:t>Milk yield(L)(avg)</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tc>
                  <a:txBody>
                    <a:bodyPr/>
                    <a:lstStyle/>
                    <a:p>
                      <a:pPr marL="0" marR="0" algn="just">
                        <a:lnSpc>
                          <a:spcPct val="107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1-1.5</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tc>
                  <a:txBody>
                    <a:bodyPr/>
                    <a:lstStyle/>
                    <a:p>
                      <a:pPr marL="0" marR="0" algn="just">
                        <a:lnSpc>
                          <a:spcPct val="107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5-6</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extLst>
                  <a:ext uri="{0D108BD9-81ED-4DB2-BD59-A6C34878D82A}">
                    <a16:rowId xmlns:a16="http://schemas.microsoft.com/office/drawing/2014/main" val="1764008258"/>
                  </a:ext>
                </a:extLst>
              </a:tr>
              <a:tr h="388019">
                <a:tc>
                  <a:txBody>
                    <a:bodyPr/>
                    <a:lstStyle/>
                    <a:p>
                      <a:pPr marL="0" marR="0" algn="just">
                        <a:lnSpc>
                          <a:spcPct val="107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Birth Weight(kg)</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tc>
                  <a:txBody>
                    <a:bodyPr/>
                    <a:lstStyle/>
                    <a:p>
                      <a:pPr marL="0" marR="0" algn="just">
                        <a:lnSpc>
                          <a:spcPct val="107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18-20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tc>
                  <a:txBody>
                    <a:bodyPr/>
                    <a:lstStyle/>
                    <a:p>
                      <a:pPr marL="0" marR="0" algn="just">
                        <a:lnSpc>
                          <a:spcPct val="107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30-32</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accent6"/>
                    </a:solidFill>
                  </a:tcPr>
                </a:tc>
                <a:extLst>
                  <a:ext uri="{0D108BD9-81ED-4DB2-BD59-A6C34878D82A}">
                    <a16:rowId xmlns:a16="http://schemas.microsoft.com/office/drawing/2014/main" val="119129800"/>
                  </a:ext>
                </a:extLst>
              </a:tr>
            </a:tbl>
          </a:graphicData>
        </a:graphic>
      </p:graphicFrame>
      <p:graphicFrame>
        <p:nvGraphicFramePr>
          <p:cNvPr id="18" name="Table 17">
            <a:extLst>
              <a:ext uri="{FF2B5EF4-FFF2-40B4-BE49-F238E27FC236}">
                <a16:creationId xmlns:a16="http://schemas.microsoft.com/office/drawing/2014/main" id="{D1BA1828-A660-A26F-E0D3-F1DB2E9A175C}"/>
              </a:ext>
            </a:extLst>
          </p:cNvPr>
          <p:cNvGraphicFramePr>
            <a:graphicFrameLocks noGrp="1"/>
          </p:cNvGraphicFramePr>
          <p:nvPr>
            <p:extLst>
              <p:ext uri="{D42A27DB-BD31-4B8C-83A1-F6EECF244321}">
                <p14:modId xmlns:p14="http://schemas.microsoft.com/office/powerpoint/2010/main" val="730672270"/>
              </p:ext>
            </p:extLst>
          </p:nvPr>
        </p:nvGraphicFramePr>
        <p:xfrm>
          <a:off x="16387456" y="18382462"/>
          <a:ext cx="5223164" cy="3050817"/>
        </p:xfrm>
        <a:graphic>
          <a:graphicData uri="http://schemas.openxmlformats.org/drawingml/2006/table">
            <a:tbl>
              <a:tblPr firstRow="1" firstCol="1" bandRow="1">
                <a:tableStyleId>{5C22544A-7EE6-4342-B048-85BDC9FD1C3A}</a:tableStyleId>
              </a:tblPr>
              <a:tblGrid>
                <a:gridCol w="1650405">
                  <a:extLst>
                    <a:ext uri="{9D8B030D-6E8A-4147-A177-3AD203B41FA5}">
                      <a16:colId xmlns:a16="http://schemas.microsoft.com/office/drawing/2014/main" val="291908954"/>
                    </a:ext>
                  </a:extLst>
                </a:gridCol>
                <a:gridCol w="1202318">
                  <a:extLst>
                    <a:ext uri="{9D8B030D-6E8A-4147-A177-3AD203B41FA5}">
                      <a16:colId xmlns:a16="http://schemas.microsoft.com/office/drawing/2014/main" val="2199713832"/>
                    </a:ext>
                  </a:extLst>
                </a:gridCol>
                <a:gridCol w="1252414">
                  <a:extLst>
                    <a:ext uri="{9D8B030D-6E8A-4147-A177-3AD203B41FA5}">
                      <a16:colId xmlns:a16="http://schemas.microsoft.com/office/drawing/2014/main" val="737603421"/>
                    </a:ext>
                  </a:extLst>
                </a:gridCol>
                <a:gridCol w="1118027">
                  <a:extLst>
                    <a:ext uri="{9D8B030D-6E8A-4147-A177-3AD203B41FA5}">
                      <a16:colId xmlns:a16="http://schemas.microsoft.com/office/drawing/2014/main" val="3765546412"/>
                    </a:ext>
                  </a:extLst>
                </a:gridCol>
              </a:tblGrid>
              <a:tr h="790957">
                <a:tc>
                  <a:txBody>
                    <a:bodyPr/>
                    <a:lstStyle/>
                    <a:p>
                      <a:pPr marL="0" marR="0" algn="ctr">
                        <a:lnSpc>
                          <a:spcPct val="107000"/>
                        </a:lnSpc>
                        <a:spcAft>
                          <a:spcPts val="800"/>
                        </a:spcAft>
                        <a:buNone/>
                      </a:pPr>
                      <a:r>
                        <a:rPr lang="en-US" sz="1100" kern="100" dirty="0">
                          <a:effectLst/>
                        </a:rPr>
                        <a:t>Parameter</a:t>
                      </a:r>
                    </a:p>
                    <a:p>
                      <a:pPr marL="0" marR="0" algn="ctr">
                        <a:lnSpc>
                          <a:spcPct val="107000"/>
                        </a:lnSpc>
                        <a:spcAft>
                          <a:spcPts val="800"/>
                        </a:spcAft>
                        <a:buNone/>
                      </a:pPr>
                      <a:r>
                        <a:rPr lang="en-US" sz="1100" kern="100" dirty="0">
                          <a:effectLst/>
                        </a:rPr>
                        <a:t> </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solidFill>
                  </a:tcPr>
                </a:tc>
                <a:tc>
                  <a:txBody>
                    <a:bodyPr/>
                    <a:lstStyle/>
                    <a:p>
                      <a:pPr marL="0" marR="0" algn="ctr">
                        <a:lnSpc>
                          <a:spcPct val="107000"/>
                        </a:lnSpc>
                        <a:spcAft>
                          <a:spcPts val="800"/>
                        </a:spcAft>
                        <a:buNone/>
                      </a:pPr>
                      <a:r>
                        <a:rPr lang="en-US" sz="1100" kern="100" dirty="0">
                          <a:effectLst/>
                        </a:rPr>
                        <a:t>Chicken</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solidFill>
                  </a:tcPr>
                </a:tc>
                <a:tc>
                  <a:txBody>
                    <a:bodyPr/>
                    <a:lstStyle/>
                    <a:p>
                      <a:pPr marL="0" marR="0" algn="ctr">
                        <a:lnSpc>
                          <a:spcPct val="107000"/>
                        </a:lnSpc>
                        <a:spcAft>
                          <a:spcPts val="800"/>
                        </a:spcAft>
                        <a:buNone/>
                      </a:pPr>
                      <a:r>
                        <a:rPr lang="en-US" sz="1100" kern="100">
                          <a:effectLst/>
                        </a:rPr>
                        <a:t>Duck</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solidFill>
                  </a:tcPr>
                </a:tc>
                <a:tc>
                  <a:txBody>
                    <a:bodyPr/>
                    <a:lstStyle/>
                    <a:p>
                      <a:pPr marL="0" marR="0" algn="ctr">
                        <a:lnSpc>
                          <a:spcPct val="107000"/>
                        </a:lnSpc>
                        <a:spcAft>
                          <a:spcPts val="800"/>
                        </a:spcAft>
                        <a:buNone/>
                      </a:pPr>
                      <a:r>
                        <a:rPr lang="en-US" sz="1100" kern="100">
                          <a:effectLst/>
                        </a:rPr>
                        <a:t>Pigeon</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solidFill>
                  </a:tcPr>
                </a:tc>
                <a:extLst>
                  <a:ext uri="{0D108BD9-81ED-4DB2-BD59-A6C34878D82A}">
                    <a16:rowId xmlns:a16="http://schemas.microsoft.com/office/drawing/2014/main" val="2791449213"/>
                  </a:ext>
                </a:extLst>
              </a:tr>
              <a:tr h="790957">
                <a:tc>
                  <a:txBody>
                    <a:bodyPr/>
                    <a:lstStyle/>
                    <a:p>
                      <a:pPr marL="0" marR="0" algn="ctr">
                        <a:lnSpc>
                          <a:spcPct val="107000"/>
                        </a:lnSpc>
                        <a:spcAft>
                          <a:spcPts val="800"/>
                        </a:spcAft>
                        <a:buNone/>
                      </a:pPr>
                      <a:r>
                        <a:rPr lang="en-US" sz="1100" kern="100" dirty="0">
                          <a:effectLst/>
                        </a:rPr>
                        <a:t>Age at first laying(Month)</a:t>
                      </a:r>
                    </a:p>
                    <a:p>
                      <a:pPr marL="0" marR="0" algn="ctr">
                        <a:lnSpc>
                          <a:spcPct val="107000"/>
                        </a:lnSpc>
                        <a:spcAft>
                          <a:spcPts val="800"/>
                        </a:spcAft>
                        <a:buNone/>
                      </a:pPr>
                      <a:r>
                        <a:rPr lang="en-US" sz="1100" kern="100" dirty="0">
                          <a:effectLst/>
                        </a:rPr>
                        <a:t> </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solidFill>
                  </a:tcPr>
                </a:tc>
                <a:tc>
                  <a:txBody>
                    <a:bodyPr/>
                    <a:lstStyle/>
                    <a:p>
                      <a:pPr marL="0" marR="0" algn="ctr">
                        <a:lnSpc>
                          <a:spcPct val="107000"/>
                        </a:lnSpc>
                        <a:spcAft>
                          <a:spcPts val="800"/>
                        </a:spcAft>
                        <a:buNone/>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6-7</a:t>
                      </a:r>
                    </a:p>
                  </a:txBody>
                  <a:tcPr marL="68580" marR="68580" marT="0" marB="0">
                    <a:solidFill>
                      <a:schemeClr val="accent6"/>
                    </a:solidFill>
                  </a:tcPr>
                </a:tc>
                <a:tc>
                  <a:txBody>
                    <a:bodyPr/>
                    <a:lstStyle/>
                    <a:p>
                      <a:pPr marL="0" marR="0" algn="ctr">
                        <a:lnSpc>
                          <a:spcPct val="107000"/>
                        </a:lnSpc>
                        <a:spcAft>
                          <a:spcPts val="800"/>
                        </a:spcAft>
                        <a:buNone/>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7-8</a:t>
                      </a:r>
                    </a:p>
                  </a:txBody>
                  <a:tcPr marL="68580" marR="68580" marT="0" marB="0">
                    <a:solidFill>
                      <a:schemeClr val="accent6"/>
                    </a:solidFill>
                  </a:tcPr>
                </a:tc>
                <a:tc>
                  <a:txBody>
                    <a:bodyPr/>
                    <a:lstStyle/>
                    <a:p>
                      <a:pPr marL="0" marR="0" algn="ctr">
                        <a:lnSpc>
                          <a:spcPct val="107000"/>
                        </a:lnSpc>
                        <a:spcAft>
                          <a:spcPts val="800"/>
                        </a:spcAft>
                        <a:buNone/>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solidFill>
                      <a:schemeClr val="accent6"/>
                    </a:solidFill>
                  </a:tcPr>
                </a:tc>
                <a:extLst>
                  <a:ext uri="{0D108BD9-81ED-4DB2-BD59-A6C34878D82A}">
                    <a16:rowId xmlns:a16="http://schemas.microsoft.com/office/drawing/2014/main" val="2826452204"/>
                  </a:ext>
                </a:extLst>
              </a:tr>
              <a:tr h="820912">
                <a:tc>
                  <a:txBody>
                    <a:bodyPr/>
                    <a:lstStyle/>
                    <a:p>
                      <a:pPr marL="0" marR="0" algn="ctr">
                        <a:lnSpc>
                          <a:spcPct val="107000"/>
                        </a:lnSpc>
                        <a:spcAft>
                          <a:spcPts val="800"/>
                        </a:spcAft>
                        <a:buNone/>
                      </a:pPr>
                      <a:r>
                        <a:rPr lang="en-US" sz="1100" kern="100">
                          <a:effectLst/>
                        </a:rPr>
                        <a:t>Avg. clutch size and pause size (No.)</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solidFill>
                  </a:tcPr>
                </a:tc>
                <a:tc>
                  <a:txBody>
                    <a:bodyPr/>
                    <a:lstStyle/>
                    <a:p>
                      <a:pPr marL="0" marR="0" algn="ctr">
                        <a:lnSpc>
                          <a:spcPct val="107000"/>
                        </a:lnSpc>
                        <a:spcAft>
                          <a:spcPts val="800"/>
                        </a:spcAft>
                        <a:buNone/>
                      </a:pPr>
                      <a:r>
                        <a:rPr lang="en-US" sz="1100" kern="100" dirty="0">
                          <a:effectLst/>
                        </a:rPr>
                        <a:t>10-15 egg</a:t>
                      </a:r>
                    </a:p>
                    <a:p>
                      <a:pPr marL="0" marR="0" algn="ctr">
                        <a:lnSpc>
                          <a:spcPct val="107000"/>
                        </a:lnSpc>
                        <a:spcAft>
                          <a:spcPts val="800"/>
                        </a:spcAft>
                        <a:buNone/>
                      </a:pPr>
                      <a:r>
                        <a:rPr lang="en-US" sz="1100" kern="100" dirty="0">
                          <a:effectLst/>
                        </a:rPr>
                        <a:t>30-60 days</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solidFill>
                  </a:tcPr>
                </a:tc>
                <a:tc>
                  <a:txBody>
                    <a:bodyPr/>
                    <a:lstStyle/>
                    <a:p>
                      <a:pPr marL="0" marR="0" algn="ctr">
                        <a:lnSpc>
                          <a:spcPct val="107000"/>
                        </a:lnSpc>
                        <a:spcAft>
                          <a:spcPts val="800"/>
                        </a:spcAft>
                        <a:buNone/>
                      </a:pPr>
                      <a:r>
                        <a:rPr lang="en-US" sz="1100" kern="100" dirty="0">
                          <a:effectLst/>
                        </a:rPr>
                        <a:t>8-15 egg</a:t>
                      </a:r>
                    </a:p>
                    <a:p>
                      <a:pPr marL="0" marR="0" algn="ctr">
                        <a:lnSpc>
                          <a:spcPct val="107000"/>
                        </a:lnSpc>
                        <a:spcAft>
                          <a:spcPts val="800"/>
                        </a:spcAft>
                        <a:buNone/>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40-65 days</a:t>
                      </a:r>
                    </a:p>
                  </a:txBody>
                  <a:tcPr marL="68580" marR="68580" marT="0" marB="0">
                    <a:solidFill>
                      <a:schemeClr val="accent6"/>
                    </a:solidFill>
                  </a:tcPr>
                </a:tc>
                <a:tc>
                  <a:txBody>
                    <a:bodyPr/>
                    <a:lstStyle/>
                    <a:p>
                      <a:pPr marL="0" marR="0" lvl="0" indent="0" algn="ctr" defTabSz="3291840" rtl="0" eaLnBrk="1" fontAlgn="auto" latinLnBrk="0" hangingPunct="1">
                        <a:lnSpc>
                          <a:spcPct val="107000"/>
                        </a:lnSpc>
                        <a:spcBef>
                          <a:spcPts val="0"/>
                        </a:spcBef>
                        <a:spcAft>
                          <a:spcPts val="800"/>
                        </a:spcAft>
                        <a:buClrTx/>
                        <a:buSzTx/>
                        <a:buFontTx/>
                        <a:buNone/>
                        <a:tabLst/>
                        <a:defRPr/>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2 eggs</a:t>
                      </a:r>
                    </a:p>
                    <a:p>
                      <a:pPr marL="0" marR="0" algn="ctr">
                        <a:lnSpc>
                          <a:spcPct val="107000"/>
                        </a:lnSpc>
                        <a:spcAft>
                          <a:spcPts val="800"/>
                        </a:spcAft>
                        <a:buNone/>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10-12 days</a:t>
                      </a:r>
                    </a:p>
                  </a:txBody>
                  <a:tcPr marL="68580" marR="68580" marT="0" marB="0">
                    <a:solidFill>
                      <a:schemeClr val="accent6"/>
                    </a:solidFill>
                  </a:tcPr>
                </a:tc>
                <a:extLst>
                  <a:ext uri="{0D108BD9-81ED-4DB2-BD59-A6C34878D82A}">
                    <a16:rowId xmlns:a16="http://schemas.microsoft.com/office/drawing/2014/main" val="122096119"/>
                  </a:ext>
                </a:extLst>
              </a:tr>
              <a:tr h="647991">
                <a:tc>
                  <a:txBody>
                    <a:bodyPr/>
                    <a:lstStyle/>
                    <a:p>
                      <a:pPr marL="0" marR="0" algn="ctr">
                        <a:lnSpc>
                          <a:spcPct val="107000"/>
                        </a:lnSpc>
                        <a:spcAft>
                          <a:spcPts val="800"/>
                        </a:spcAft>
                        <a:buNone/>
                      </a:pPr>
                      <a:r>
                        <a:rPr lang="en-US" sz="1100" kern="100">
                          <a:effectLst/>
                        </a:rPr>
                        <a:t>Egg Size/ Weight (Gram)</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solidFill>
                  </a:tcPr>
                </a:tc>
                <a:tc>
                  <a:txBody>
                    <a:bodyPr/>
                    <a:lstStyle/>
                    <a:p>
                      <a:pPr marL="0" marR="0" algn="ctr">
                        <a:lnSpc>
                          <a:spcPct val="107000"/>
                        </a:lnSpc>
                        <a:spcAft>
                          <a:spcPts val="800"/>
                        </a:spcAft>
                        <a:buNone/>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35-40</a:t>
                      </a:r>
                    </a:p>
                  </a:txBody>
                  <a:tcPr marL="68580" marR="68580" marT="0" marB="0">
                    <a:solidFill>
                      <a:schemeClr val="accent6"/>
                    </a:solidFill>
                  </a:tcPr>
                </a:tc>
                <a:tc>
                  <a:txBody>
                    <a:bodyPr/>
                    <a:lstStyle/>
                    <a:p>
                      <a:pPr marL="0" marR="0" algn="ctr">
                        <a:lnSpc>
                          <a:spcPct val="107000"/>
                        </a:lnSpc>
                        <a:spcAft>
                          <a:spcPts val="800"/>
                        </a:spcAft>
                        <a:buNone/>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55-60</a:t>
                      </a:r>
                    </a:p>
                  </a:txBody>
                  <a:tcPr marL="68580" marR="68580" marT="0" marB="0">
                    <a:solidFill>
                      <a:schemeClr val="accent6"/>
                    </a:solidFill>
                  </a:tcPr>
                </a:tc>
                <a:tc>
                  <a:txBody>
                    <a:bodyPr/>
                    <a:lstStyle/>
                    <a:p>
                      <a:pPr marL="0" marR="0" algn="ctr">
                        <a:lnSpc>
                          <a:spcPct val="107000"/>
                        </a:lnSpc>
                        <a:spcAft>
                          <a:spcPts val="800"/>
                        </a:spcAft>
                        <a:buNone/>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13-15</a:t>
                      </a:r>
                    </a:p>
                  </a:txBody>
                  <a:tcPr marL="68580" marR="68580" marT="0" marB="0">
                    <a:solidFill>
                      <a:schemeClr val="accent6"/>
                    </a:solidFill>
                  </a:tcPr>
                </a:tc>
                <a:extLst>
                  <a:ext uri="{0D108BD9-81ED-4DB2-BD59-A6C34878D82A}">
                    <a16:rowId xmlns:a16="http://schemas.microsoft.com/office/drawing/2014/main" val="3603610501"/>
                  </a:ext>
                </a:extLst>
              </a:tr>
            </a:tbl>
          </a:graphicData>
        </a:graphic>
      </p:graphicFrame>
      <p:sp>
        <p:nvSpPr>
          <p:cNvPr id="55" name="TextBox 54">
            <a:extLst>
              <a:ext uri="{FF2B5EF4-FFF2-40B4-BE49-F238E27FC236}">
                <a16:creationId xmlns:a16="http://schemas.microsoft.com/office/drawing/2014/main" id="{B90F1FAA-5C12-BD14-8BF6-FD5A9A77EA9F}"/>
              </a:ext>
            </a:extLst>
          </p:cNvPr>
          <p:cNvSpPr txBox="1"/>
          <p:nvPr/>
        </p:nvSpPr>
        <p:spPr>
          <a:xfrm>
            <a:off x="13192802" y="21464929"/>
            <a:ext cx="8172286" cy="400110"/>
          </a:xfrm>
          <a:prstGeom prst="rect">
            <a:avLst/>
          </a:prstGeom>
          <a:noFill/>
        </p:spPr>
        <p:txBody>
          <a:bodyPr wrap="square" rtlCol="0">
            <a:spAutoFit/>
          </a:bodyPr>
          <a:lstStyle/>
          <a:p>
            <a:r>
              <a:rPr lang="en-US" sz="2000" b="1" dirty="0"/>
              <a:t>Figure: Production Parameter of Livestock &amp; Poultry</a:t>
            </a:r>
          </a:p>
        </p:txBody>
      </p:sp>
      <p:graphicFrame>
        <p:nvGraphicFramePr>
          <p:cNvPr id="3" name="Chart 2">
            <a:extLst>
              <a:ext uri="{FF2B5EF4-FFF2-40B4-BE49-F238E27FC236}">
                <a16:creationId xmlns:a16="http://schemas.microsoft.com/office/drawing/2014/main" id="{7A66BB90-DC1D-FAB7-B998-9CB65FD2350F}"/>
              </a:ext>
            </a:extLst>
          </p:cNvPr>
          <p:cNvGraphicFramePr>
            <a:graphicFrameLocks/>
          </p:cNvGraphicFramePr>
          <p:nvPr>
            <p:extLst>
              <p:ext uri="{D42A27DB-BD31-4B8C-83A1-F6EECF244321}">
                <p14:modId xmlns:p14="http://schemas.microsoft.com/office/powerpoint/2010/main" val="2236972609"/>
              </p:ext>
            </p:extLst>
          </p:nvPr>
        </p:nvGraphicFramePr>
        <p:xfrm>
          <a:off x="22950906" y="16285168"/>
          <a:ext cx="8617664" cy="4276439"/>
        </p:xfrm>
        <a:graphic>
          <a:graphicData uri="http://schemas.openxmlformats.org/drawingml/2006/chart">
            <c:chart xmlns:c="http://schemas.openxmlformats.org/drawingml/2006/chart" xmlns:r="http://schemas.openxmlformats.org/officeDocument/2006/relationships" r:id="rId6"/>
          </a:graphicData>
        </a:graphic>
      </p:graphicFrame>
      <p:sp>
        <p:nvSpPr>
          <p:cNvPr id="9" name="TextBox 8">
            <a:extLst>
              <a:ext uri="{FF2B5EF4-FFF2-40B4-BE49-F238E27FC236}">
                <a16:creationId xmlns:a16="http://schemas.microsoft.com/office/drawing/2014/main" id="{F39272B7-4DF3-8A3A-6272-E4EB2A3939C9}"/>
              </a:ext>
            </a:extLst>
          </p:cNvPr>
          <p:cNvSpPr txBox="1"/>
          <p:nvPr/>
        </p:nvSpPr>
        <p:spPr>
          <a:xfrm>
            <a:off x="606506" y="9224936"/>
            <a:ext cx="9092055" cy="9079409"/>
          </a:xfrm>
          <a:prstGeom prst="rect">
            <a:avLst/>
          </a:prstGeom>
          <a:noFill/>
        </p:spPr>
        <p:txBody>
          <a:bodyPr wrap="square" rtlCol="0">
            <a:spAutoFit/>
          </a:bodyPr>
          <a:lstStyle/>
          <a:p>
            <a:pPr algn="just"/>
            <a:r>
              <a:rPr lang="en-US" sz="2800" b="1" dirty="0"/>
              <a:t>The Faculty of Animal Husbandry at Bangladesh Agricultural University (BAU), established in 1962, has been a pioneer in agricultural education in Bangladesh. To provide practical, hands-on experience to students, the faculty introduced internship semesters in 1999. These internships aim to bridge the gap between theoretical knowledge and real-world practices.</a:t>
            </a:r>
          </a:p>
          <a:p>
            <a:pPr algn="just"/>
            <a:r>
              <a:rPr lang="en-US" sz="2800" b="1" dirty="0"/>
              <a:t>This study, Conducted under the AH5002 course  I took my internship at the Upazila Livestock Office and Veterinary Hospital in Sirajganj Sadar, Sirajganj. This fieldwork, conducted from May 25, 2025, involved collecting data from 100 rural households . Using a structured questionnaire , it assessed species and breed diversity, production and reproduction metrics , feeding and housing systems , health management , marketing and farmer challenges , key findings including data on milk yield , egg production and reproduction performance.</a:t>
            </a:r>
          </a:p>
          <a:p>
            <a:pPr algn="just"/>
            <a:r>
              <a:rPr lang="en-US" sz="2800" b="1" dirty="0"/>
              <a:t>This experience also focused on enhancing communication, monitoring, and evaluation skills, critical for effective livestock extension services.</a:t>
            </a:r>
          </a:p>
          <a:p>
            <a:endParaRPr lang="en-US" sz="2400" dirty="0"/>
          </a:p>
        </p:txBody>
      </p:sp>
      <p:sp>
        <p:nvSpPr>
          <p:cNvPr id="19" name="TextBox 18">
            <a:extLst>
              <a:ext uri="{FF2B5EF4-FFF2-40B4-BE49-F238E27FC236}">
                <a16:creationId xmlns:a16="http://schemas.microsoft.com/office/drawing/2014/main" id="{23ACDA35-C95B-C58F-C356-D949724D53A0}"/>
              </a:ext>
            </a:extLst>
          </p:cNvPr>
          <p:cNvSpPr txBox="1"/>
          <p:nvPr/>
        </p:nvSpPr>
        <p:spPr>
          <a:xfrm>
            <a:off x="22461416" y="28470125"/>
            <a:ext cx="9417466" cy="5693866"/>
          </a:xfrm>
          <a:prstGeom prst="rect">
            <a:avLst/>
          </a:prstGeom>
          <a:noFill/>
        </p:spPr>
        <p:txBody>
          <a:bodyPr wrap="square" rtlCol="0">
            <a:spAutoFit/>
          </a:bodyPr>
          <a:lstStyle/>
          <a:p>
            <a:r>
              <a:rPr lang="en-US" sz="2800" b="1" dirty="0"/>
              <a:t>This household-level study reveals that livestock and poultry production in Sirajganj Sadar Upazila relies heavily on traditional methods with limited access to modern breeding,  management and veterinary service. Many issues such as insufficient training, inadequate veterinary services, high feed costs, and limited disease prevention measures obstruct progress. Addressing these challenges through enhanced extension support, widespread vaccination programs, affordable artificial insemination services, and better farmer training can revolutionize rural livestock farming. Those can ensure sustainable farming practices, boost productivity, and contribute significantly to meeting the protein demand of the country. </a:t>
            </a:r>
          </a:p>
        </p:txBody>
      </p:sp>
      <p:sp>
        <p:nvSpPr>
          <p:cNvPr id="44" name="Arrow: Right 43">
            <a:extLst>
              <a:ext uri="{FF2B5EF4-FFF2-40B4-BE49-F238E27FC236}">
                <a16:creationId xmlns:a16="http://schemas.microsoft.com/office/drawing/2014/main" id="{036005F8-FAE0-2AB2-5817-FF283774D38A}"/>
              </a:ext>
            </a:extLst>
          </p:cNvPr>
          <p:cNvSpPr/>
          <p:nvPr/>
        </p:nvSpPr>
        <p:spPr>
          <a:xfrm>
            <a:off x="839197" y="23219868"/>
            <a:ext cx="978408" cy="7422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F7ECD957-14D8-CE21-F4D8-0BEBB8BA388F}"/>
              </a:ext>
            </a:extLst>
          </p:cNvPr>
          <p:cNvSpPr/>
          <p:nvPr/>
        </p:nvSpPr>
        <p:spPr>
          <a:xfrm>
            <a:off x="1865134" y="23152317"/>
            <a:ext cx="8128925" cy="914400"/>
          </a:xfrm>
          <a:prstGeom prst="rect">
            <a:avLst/>
          </a:prstGeom>
          <a:solidFill>
            <a:schemeClr val="accent6">
              <a:lumMod val="60000"/>
              <a:lumOff val="40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800" b="1" dirty="0">
                <a:solidFill>
                  <a:schemeClr val="tx1"/>
                </a:solidFill>
              </a:rPr>
              <a:t>To catalog the household-level livestock and poultry Related parameters</a:t>
            </a:r>
          </a:p>
        </p:txBody>
      </p:sp>
      <p:sp>
        <p:nvSpPr>
          <p:cNvPr id="54" name="Rectangle 53">
            <a:extLst>
              <a:ext uri="{FF2B5EF4-FFF2-40B4-BE49-F238E27FC236}">
                <a16:creationId xmlns:a16="http://schemas.microsoft.com/office/drawing/2014/main" id="{A7860F3C-05AF-F184-9733-BA33AB7EAA2F}"/>
              </a:ext>
            </a:extLst>
          </p:cNvPr>
          <p:cNvSpPr/>
          <p:nvPr/>
        </p:nvSpPr>
        <p:spPr>
          <a:xfrm>
            <a:off x="1840080" y="24189306"/>
            <a:ext cx="8153979" cy="914400"/>
          </a:xfrm>
          <a:prstGeom prst="rect">
            <a:avLst/>
          </a:prstGeom>
          <a:solidFill>
            <a:schemeClr val="accent6">
              <a:lumMod val="60000"/>
              <a:lumOff val="40000"/>
            </a:schemeClr>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2800" b="1" dirty="0">
                <a:solidFill>
                  <a:schemeClr val="tx1"/>
                </a:solidFill>
              </a:rPr>
              <a:t>To examine the production , reproduction, breeding management, feeding, housing and healthcare </a:t>
            </a:r>
          </a:p>
        </p:txBody>
      </p:sp>
      <p:sp>
        <p:nvSpPr>
          <p:cNvPr id="58" name="Arrow: Right 57">
            <a:extLst>
              <a:ext uri="{FF2B5EF4-FFF2-40B4-BE49-F238E27FC236}">
                <a16:creationId xmlns:a16="http://schemas.microsoft.com/office/drawing/2014/main" id="{FB1E6531-5A1D-8FB9-93DE-CBFB3164DDA9}"/>
              </a:ext>
            </a:extLst>
          </p:cNvPr>
          <p:cNvSpPr/>
          <p:nvPr/>
        </p:nvSpPr>
        <p:spPr>
          <a:xfrm>
            <a:off x="824755" y="25270255"/>
            <a:ext cx="978408" cy="74220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E190F042-742A-4521-BB3E-246B3947D6F8}"/>
              </a:ext>
            </a:extLst>
          </p:cNvPr>
          <p:cNvSpPr/>
          <p:nvPr/>
        </p:nvSpPr>
        <p:spPr>
          <a:xfrm>
            <a:off x="1840079" y="25265116"/>
            <a:ext cx="8153979" cy="914400"/>
          </a:xfrm>
          <a:prstGeom prst="rect">
            <a:avLst/>
          </a:prstGeom>
          <a:solidFill>
            <a:schemeClr val="accent6">
              <a:lumMod val="60000"/>
              <a:lumOff val="40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800" b="1" dirty="0">
                <a:solidFill>
                  <a:schemeClr val="tx1"/>
                </a:solidFill>
              </a:rPr>
              <a:t>Asses the use of local and commercial feed resources by farmers</a:t>
            </a:r>
          </a:p>
        </p:txBody>
      </p:sp>
      <p:sp>
        <p:nvSpPr>
          <p:cNvPr id="65" name="Arrow: Right 64">
            <a:extLst>
              <a:ext uri="{FF2B5EF4-FFF2-40B4-BE49-F238E27FC236}">
                <a16:creationId xmlns:a16="http://schemas.microsoft.com/office/drawing/2014/main" id="{14F66AF9-F46F-48F3-E852-7FEA09A60B20}"/>
              </a:ext>
            </a:extLst>
          </p:cNvPr>
          <p:cNvSpPr/>
          <p:nvPr/>
        </p:nvSpPr>
        <p:spPr>
          <a:xfrm>
            <a:off x="861671" y="24207558"/>
            <a:ext cx="978408" cy="74220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Arrow: Right 65">
            <a:extLst>
              <a:ext uri="{FF2B5EF4-FFF2-40B4-BE49-F238E27FC236}">
                <a16:creationId xmlns:a16="http://schemas.microsoft.com/office/drawing/2014/main" id="{B2CB8F55-DB79-4FE9-8029-348CBD89350F}"/>
              </a:ext>
            </a:extLst>
          </p:cNvPr>
          <p:cNvSpPr/>
          <p:nvPr/>
        </p:nvSpPr>
        <p:spPr>
          <a:xfrm>
            <a:off x="779770" y="26433697"/>
            <a:ext cx="978408" cy="6692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03C7EED1-7ECB-50AC-4C96-5054D1418593}"/>
              </a:ext>
            </a:extLst>
          </p:cNvPr>
          <p:cNvSpPr/>
          <p:nvPr/>
        </p:nvSpPr>
        <p:spPr>
          <a:xfrm>
            <a:off x="1803163" y="26372538"/>
            <a:ext cx="8189104" cy="914400"/>
          </a:xfrm>
          <a:prstGeom prst="rect">
            <a:avLst/>
          </a:prstGeom>
          <a:solidFill>
            <a:schemeClr val="accent6">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b="1" dirty="0">
                <a:solidFill>
                  <a:schemeClr val="tx1"/>
                </a:solidFill>
              </a:rPr>
              <a:t>Analysis the annual profit and socioeconomic impact of livestock and poultry farming in household level</a:t>
            </a:r>
          </a:p>
        </p:txBody>
      </p:sp>
      <p:sp>
        <p:nvSpPr>
          <p:cNvPr id="68" name="Arrow: Right 67">
            <a:extLst>
              <a:ext uri="{FF2B5EF4-FFF2-40B4-BE49-F238E27FC236}">
                <a16:creationId xmlns:a16="http://schemas.microsoft.com/office/drawing/2014/main" id="{6BA72FC3-0756-8C4A-EB94-D0337C9BF72C}"/>
              </a:ext>
            </a:extLst>
          </p:cNvPr>
          <p:cNvSpPr/>
          <p:nvPr/>
        </p:nvSpPr>
        <p:spPr>
          <a:xfrm>
            <a:off x="779770" y="27472215"/>
            <a:ext cx="978408" cy="66920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7FD9A311-1919-26BA-FD27-25F6E531B3BD}"/>
              </a:ext>
            </a:extLst>
          </p:cNvPr>
          <p:cNvSpPr/>
          <p:nvPr/>
        </p:nvSpPr>
        <p:spPr>
          <a:xfrm>
            <a:off x="1803163" y="27460314"/>
            <a:ext cx="8189103" cy="914400"/>
          </a:xfrm>
          <a:prstGeom prst="rect">
            <a:avLst/>
          </a:prstGeom>
          <a:solidFill>
            <a:schemeClr val="accent6">
              <a:lumMod val="60000"/>
              <a:lumOff val="40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800" b="1" dirty="0">
                <a:solidFill>
                  <a:schemeClr val="tx1"/>
                </a:solidFill>
              </a:rPr>
              <a:t>Evaluate the effectiveness of existing extension services and support the marginal farmers</a:t>
            </a:r>
          </a:p>
        </p:txBody>
      </p:sp>
      <p:sp>
        <p:nvSpPr>
          <p:cNvPr id="70" name="Arrow: Right 69">
            <a:extLst>
              <a:ext uri="{FF2B5EF4-FFF2-40B4-BE49-F238E27FC236}">
                <a16:creationId xmlns:a16="http://schemas.microsoft.com/office/drawing/2014/main" id="{96546B02-122A-42F3-0416-2B9790E77E75}"/>
              </a:ext>
            </a:extLst>
          </p:cNvPr>
          <p:cNvSpPr/>
          <p:nvPr/>
        </p:nvSpPr>
        <p:spPr>
          <a:xfrm>
            <a:off x="825368" y="28630957"/>
            <a:ext cx="978408" cy="6692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D964E3EA-2FF4-9472-8664-2F7F7AD4DCF3}"/>
              </a:ext>
            </a:extLst>
          </p:cNvPr>
          <p:cNvSpPr/>
          <p:nvPr/>
        </p:nvSpPr>
        <p:spPr>
          <a:xfrm>
            <a:off x="1848145" y="28582141"/>
            <a:ext cx="8144121" cy="914400"/>
          </a:xfrm>
          <a:prstGeom prst="rect">
            <a:avLst/>
          </a:prstGeom>
          <a:solidFill>
            <a:schemeClr val="accent6">
              <a:lumMod val="60000"/>
              <a:lumOff val="40000"/>
            </a:schemeClr>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2800" b="1" dirty="0">
                <a:solidFill>
                  <a:schemeClr val="tx1"/>
                </a:solidFill>
              </a:rPr>
              <a:t>Identify gaps and offer actionable recommendations for enhancement</a:t>
            </a:r>
          </a:p>
        </p:txBody>
      </p:sp>
      <p:sp>
        <p:nvSpPr>
          <p:cNvPr id="75" name="Rectangle: Rounded Corners 74">
            <a:extLst>
              <a:ext uri="{FF2B5EF4-FFF2-40B4-BE49-F238E27FC236}">
                <a16:creationId xmlns:a16="http://schemas.microsoft.com/office/drawing/2014/main" id="{8AAE4DE7-5011-C1C7-48D7-A7D25BB52DD6}"/>
              </a:ext>
            </a:extLst>
          </p:cNvPr>
          <p:cNvSpPr/>
          <p:nvPr/>
        </p:nvSpPr>
        <p:spPr>
          <a:xfrm>
            <a:off x="583729" y="31684661"/>
            <a:ext cx="10229219" cy="12129264"/>
          </a:xfrm>
          <a:prstGeom prst="roundRect">
            <a:avLst>
              <a:gd name="adj" fmla="val 7136"/>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800" b="1" dirty="0">
              <a:solidFill>
                <a:schemeClr val="tx1"/>
              </a:solidFill>
            </a:endParaRPr>
          </a:p>
        </p:txBody>
      </p:sp>
      <p:sp>
        <p:nvSpPr>
          <p:cNvPr id="76" name="Rectangle: Rounded Corners 75">
            <a:extLst>
              <a:ext uri="{FF2B5EF4-FFF2-40B4-BE49-F238E27FC236}">
                <a16:creationId xmlns:a16="http://schemas.microsoft.com/office/drawing/2014/main" id="{F97F9521-DBB9-8AF1-3B6D-0A03709149C0}"/>
              </a:ext>
            </a:extLst>
          </p:cNvPr>
          <p:cNvSpPr/>
          <p:nvPr/>
        </p:nvSpPr>
        <p:spPr>
          <a:xfrm>
            <a:off x="947834" y="31819503"/>
            <a:ext cx="7086311" cy="981360"/>
          </a:xfrm>
          <a:prstGeom prst="roundRect">
            <a:avLst/>
          </a:prstGeom>
          <a:solidFill>
            <a:schemeClr val="accent2">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sz="2800" b="1" dirty="0">
                <a:solidFill>
                  <a:schemeClr val="tx1"/>
                </a:solidFill>
              </a:rPr>
              <a:t>Study Area (Sirajganj Sadar)</a:t>
            </a:r>
          </a:p>
        </p:txBody>
      </p:sp>
      <p:sp>
        <p:nvSpPr>
          <p:cNvPr id="84" name="Rectangle: Rounded Corners 83">
            <a:extLst>
              <a:ext uri="{FF2B5EF4-FFF2-40B4-BE49-F238E27FC236}">
                <a16:creationId xmlns:a16="http://schemas.microsoft.com/office/drawing/2014/main" id="{7F9213BE-F82D-D365-1BC8-B52BE3D2D033}"/>
              </a:ext>
            </a:extLst>
          </p:cNvPr>
          <p:cNvSpPr/>
          <p:nvPr/>
        </p:nvSpPr>
        <p:spPr>
          <a:xfrm>
            <a:off x="724267" y="35491377"/>
            <a:ext cx="7276838" cy="914400"/>
          </a:xfrm>
          <a:prstGeom prst="roundRect">
            <a:avLst/>
          </a:prstGeom>
          <a:solidFill>
            <a:schemeClr val="accent2">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sz="2800" b="1" dirty="0">
                <a:solidFill>
                  <a:schemeClr val="tx1"/>
                </a:solidFill>
              </a:rPr>
              <a:t>Techniques of data Collection</a:t>
            </a:r>
          </a:p>
        </p:txBody>
      </p:sp>
      <p:sp>
        <p:nvSpPr>
          <p:cNvPr id="85" name="Rectangle: Rounded Corners 84">
            <a:extLst>
              <a:ext uri="{FF2B5EF4-FFF2-40B4-BE49-F238E27FC236}">
                <a16:creationId xmlns:a16="http://schemas.microsoft.com/office/drawing/2014/main" id="{45C2D6FD-4AD6-2559-B03A-DF0F0D809824}"/>
              </a:ext>
            </a:extLst>
          </p:cNvPr>
          <p:cNvSpPr/>
          <p:nvPr/>
        </p:nvSpPr>
        <p:spPr>
          <a:xfrm>
            <a:off x="4163069" y="37282501"/>
            <a:ext cx="6649879" cy="914400"/>
          </a:xfrm>
          <a:prstGeom prst="roundRect">
            <a:avLst/>
          </a:prstGeom>
          <a:solidFill>
            <a:schemeClr val="accent2">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sz="2800" b="1" dirty="0">
                <a:solidFill>
                  <a:schemeClr val="tx1"/>
                </a:solidFill>
              </a:rPr>
              <a:t>Sampling Method</a:t>
            </a:r>
          </a:p>
        </p:txBody>
      </p:sp>
      <p:sp>
        <p:nvSpPr>
          <p:cNvPr id="86" name="Rectangle: Rounded Corners 85">
            <a:extLst>
              <a:ext uri="{FF2B5EF4-FFF2-40B4-BE49-F238E27FC236}">
                <a16:creationId xmlns:a16="http://schemas.microsoft.com/office/drawing/2014/main" id="{6CA1A6C1-F1C5-B40A-8B8C-5A625AE7F1AA}"/>
              </a:ext>
            </a:extLst>
          </p:cNvPr>
          <p:cNvSpPr/>
          <p:nvPr/>
        </p:nvSpPr>
        <p:spPr>
          <a:xfrm>
            <a:off x="3934181" y="40937431"/>
            <a:ext cx="6878767" cy="914400"/>
          </a:xfrm>
          <a:prstGeom prst="roundRect">
            <a:avLst/>
          </a:prstGeom>
          <a:solidFill>
            <a:schemeClr val="accent2">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sz="2800" b="1" dirty="0">
                <a:solidFill>
                  <a:schemeClr val="tx1"/>
                </a:solidFill>
              </a:rPr>
              <a:t>Data Entry</a:t>
            </a:r>
          </a:p>
        </p:txBody>
      </p:sp>
      <p:sp>
        <p:nvSpPr>
          <p:cNvPr id="87" name="Rectangle: Rounded Corners 86">
            <a:extLst>
              <a:ext uri="{FF2B5EF4-FFF2-40B4-BE49-F238E27FC236}">
                <a16:creationId xmlns:a16="http://schemas.microsoft.com/office/drawing/2014/main" id="{F2BBAFC1-14B9-A2A6-9233-5ED4B4B8A155}"/>
              </a:ext>
            </a:extLst>
          </p:cNvPr>
          <p:cNvSpPr/>
          <p:nvPr/>
        </p:nvSpPr>
        <p:spPr>
          <a:xfrm>
            <a:off x="737406" y="39096291"/>
            <a:ext cx="7493617" cy="914400"/>
          </a:xfrm>
          <a:prstGeom prst="roundRect">
            <a:avLst/>
          </a:prstGeom>
          <a:solidFill>
            <a:schemeClr val="accent2">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sz="2800" b="1" dirty="0">
                <a:solidFill>
                  <a:schemeClr val="tx1"/>
                </a:solidFill>
              </a:rPr>
              <a:t>Data Recording</a:t>
            </a:r>
          </a:p>
        </p:txBody>
      </p:sp>
      <p:sp>
        <p:nvSpPr>
          <p:cNvPr id="88" name="Rectangle: Rounded Corners 87">
            <a:extLst>
              <a:ext uri="{FF2B5EF4-FFF2-40B4-BE49-F238E27FC236}">
                <a16:creationId xmlns:a16="http://schemas.microsoft.com/office/drawing/2014/main" id="{433F4567-E86E-3228-9BEA-916E99398A38}"/>
              </a:ext>
            </a:extLst>
          </p:cNvPr>
          <p:cNvSpPr/>
          <p:nvPr/>
        </p:nvSpPr>
        <p:spPr>
          <a:xfrm>
            <a:off x="912633" y="42801114"/>
            <a:ext cx="7493617" cy="914400"/>
          </a:xfrm>
          <a:prstGeom prst="roundRect">
            <a:avLst/>
          </a:prstGeom>
          <a:solidFill>
            <a:schemeClr val="accent2">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sz="2800" b="1" dirty="0">
                <a:solidFill>
                  <a:schemeClr val="tx1"/>
                </a:solidFill>
              </a:rPr>
              <a:t>Data Analysis</a:t>
            </a:r>
          </a:p>
        </p:txBody>
      </p:sp>
      <p:sp>
        <p:nvSpPr>
          <p:cNvPr id="89" name="Arrow: Down 88">
            <a:extLst>
              <a:ext uri="{FF2B5EF4-FFF2-40B4-BE49-F238E27FC236}">
                <a16:creationId xmlns:a16="http://schemas.microsoft.com/office/drawing/2014/main" id="{2CD0DA5A-1CB8-FE9F-E2A2-7696EA9EC86F}"/>
              </a:ext>
            </a:extLst>
          </p:cNvPr>
          <p:cNvSpPr/>
          <p:nvPr/>
        </p:nvSpPr>
        <p:spPr>
          <a:xfrm>
            <a:off x="5152534" y="32874181"/>
            <a:ext cx="448752" cy="70692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Arrow: Down 89">
            <a:extLst>
              <a:ext uri="{FF2B5EF4-FFF2-40B4-BE49-F238E27FC236}">
                <a16:creationId xmlns:a16="http://schemas.microsoft.com/office/drawing/2014/main" id="{0A409F96-ED94-22E1-66FB-D2BE63A32C8F}"/>
              </a:ext>
            </a:extLst>
          </p:cNvPr>
          <p:cNvSpPr/>
          <p:nvPr/>
        </p:nvSpPr>
        <p:spPr>
          <a:xfrm flipH="1">
            <a:off x="5152534" y="34639548"/>
            <a:ext cx="448752" cy="72916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Arrow: Down 90">
            <a:extLst>
              <a:ext uri="{FF2B5EF4-FFF2-40B4-BE49-F238E27FC236}">
                <a16:creationId xmlns:a16="http://schemas.microsoft.com/office/drawing/2014/main" id="{7787E6A0-97AD-F52E-CC16-5D28E5457855}"/>
              </a:ext>
            </a:extLst>
          </p:cNvPr>
          <p:cNvSpPr/>
          <p:nvPr/>
        </p:nvSpPr>
        <p:spPr>
          <a:xfrm>
            <a:off x="5152534" y="36495105"/>
            <a:ext cx="448752" cy="6980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Arrow: Down 91">
            <a:extLst>
              <a:ext uri="{FF2B5EF4-FFF2-40B4-BE49-F238E27FC236}">
                <a16:creationId xmlns:a16="http://schemas.microsoft.com/office/drawing/2014/main" id="{0BE88704-3470-999A-F18E-7F2EA5A03B60}"/>
              </a:ext>
            </a:extLst>
          </p:cNvPr>
          <p:cNvSpPr/>
          <p:nvPr/>
        </p:nvSpPr>
        <p:spPr>
          <a:xfrm>
            <a:off x="5201817" y="38285385"/>
            <a:ext cx="481489" cy="7105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Arrow: Down 92">
            <a:extLst>
              <a:ext uri="{FF2B5EF4-FFF2-40B4-BE49-F238E27FC236}">
                <a16:creationId xmlns:a16="http://schemas.microsoft.com/office/drawing/2014/main" id="{C293ED89-CD60-1C47-1468-98CD89747AFB}"/>
              </a:ext>
            </a:extLst>
          </p:cNvPr>
          <p:cNvSpPr/>
          <p:nvPr/>
        </p:nvSpPr>
        <p:spPr>
          <a:xfrm>
            <a:off x="5214944" y="40096621"/>
            <a:ext cx="455233" cy="76298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Arrow: Down 93">
            <a:extLst>
              <a:ext uri="{FF2B5EF4-FFF2-40B4-BE49-F238E27FC236}">
                <a16:creationId xmlns:a16="http://schemas.microsoft.com/office/drawing/2014/main" id="{9B4166C8-26D3-1BAA-8600-3CFDC92A058F}"/>
              </a:ext>
            </a:extLst>
          </p:cNvPr>
          <p:cNvSpPr/>
          <p:nvPr/>
        </p:nvSpPr>
        <p:spPr>
          <a:xfrm>
            <a:off x="5233378" y="41970852"/>
            <a:ext cx="484632" cy="76763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Rounded Corners 95">
            <a:extLst>
              <a:ext uri="{FF2B5EF4-FFF2-40B4-BE49-F238E27FC236}">
                <a16:creationId xmlns:a16="http://schemas.microsoft.com/office/drawing/2014/main" id="{D24B7986-E367-537F-F1EB-A98250A1101D}"/>
              </a:ext>
            </a:extLst>
          </p:cNvPr>
          <p:cNvSpPr/>
          <p:nvPr/>
        </p:nvSpPr>
        <p:spPr>
          <a:xfrm>
            <a:off x="4163069" y="33624775"/>
            <a:ext cx="6649879" cy="914400"/>
          </a:xfrm>
          <a:prstGeom prst="roundRect">
            <a:avLst/>
          </a:prstGeom>
          <a:solidFill>
            <a:schemeClr val="accent2">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US" sz="2800" b="1" dirty="0"/>
              <a:t>Structured Questionnaire</a:t>
            </a:r>
          </a:p>
        </p:txBody>
      </p:sp>
      <p:sp>
        <p:nvSpPr>
          <p:cNvPr id="26" name="Rectangle: Rounded Corners 25">
            <a:extLst>
              <a:ext uri="{FF2B5EF4-FFF2-40B4-BE49-F238E27FC236}">
                <a16:creationId xmlns:a16="http://schemas.microsoft.com/office/drawing/2014/main" id="{43A6FBF0-76CB-3882-4192-EAB0A2F35A31}"/>
              </a:ext>
            </a:extLst>
          </p:cNvPr>
          <p:cNvSpPr/>
          <p:nvPr/>
        </p:nvSpPr>
        <p:spPr>
          <a:xfrm>
            <a:off x="21792616" y="37636856"/>
            <a:ext cx="10777308" cy="6177069"/>
          </a:xfrm>
          <a:prstGeom prst="roundRect">
            <a:avLst>
              <a:gd name="adj" fmla="val 713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DABF61A-CC41-266A-B94B-F5C3F8E4F75C}"/>
              </a:ext>
            </a:extLst>
          </p:cNvPr>
          <p:cNvSpPr/>
          <p:nvPr/>
        </p:nvSpPr>
        <p:spPr>
          <a:xfrm>
            <a:off x="22317946" y="37739701"/>
            <a:ext cx="9726647"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b="1" dirty="0">
                <a:solidFill>
                  <a:schemeClr val="tx1"/>
                </a:solidFill>
              </a:rPr>
              <a:t>I Would Like To Express My Heartfelt Gratitude To:</a:t>
            </a:r>
          </a:p>
        </p:txBody>
      </p:sp>
      <p:sp>
        <p:nvSpPr>
          <p:cNvPr id="38" name="Rectangle: Rounded Corners 37">
            <a:extLst>
              <a:ext uri="{FF2B5EF4-FFF2-40B4-BE49-F238E27FC236}">
                <a16:creationId xmlns:a16="http://schemas.microsoft.com/office/drawing/2014/main" id="{A03F59E4-0E1E-4D8C-1865-89760CDD569B}"/>
              </a:ext>
            </a:extLst>
          </p:cNvPr>
          <p:cNvSpPr/>
          <p:nvPr/>
        </p:nvSpPr>
        <p:spPr>
          <a:xfrm>
            <a:off x="22281479" y="38756946"/>
            <a:ext cx="9726647" cy="4958568"/>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r>
              <a:rPr lang="en-US" sz="2800" b="1" dirty="0">
                <a:solidFill>
                  <a:schemeClr val="tx1"/>
                </a:solidFill>
              </a:rPr>
              <a:t>   1.Bangladesh Agricultural University, Mymensingh </a:t>
            </a:r>
          </a:p>
          <a:p>
            <a:r>
              <a:rPr lang="en-US" sz="2800" b="1" dirty="0">
                <a:solidFill>
                  <a:schemeClr val="tx1"/>
                </a:solidFill>
              </a:rPr>
              <a:t>   2.Department of Livestock Service                             </a:t>
            </a:r>
          </a:p>
          <a:p>
            <a:r>
              <a:rPr lang="en-US" sz="2800" b="1" dirty="0">
                <a:solidFill>
                  <a:schemeClr val="tx1"/>
                </a:solidFill>
              </a:rPr>
              <a:t>   3.Faculty of Animal Husbandry</a:t>
            </a:r>
          </a:p>
          <a:p>
            <a:r>
              <a:rPr lang="en-US" sz="2800" b="1" dirty="0">
                <a:solidFill>
                  <a:schemeClr val="tx1"/>
                </a:solidFill>
              </a:rPr>
              <a:t>   4.Internship Management Cell</a:t>
            </a:r>
          </a:p>
          <a:p>
            <a:r>
              <a:rPr lang="en-US" sz="2800" b="1" dirty="0">
                <a:solidFill>
                  <a:schemeClr val="tx1"/>
                </a:solidFill>
              </a:rPr>
              <a:t>   5.Dean,Facult of Animal Husbandry</a:t>
            </a:r>
          </a:p>
          <a:p>
            <a:r>
              <a:rPr lang="en-US" sz="2800" b="1" dirty="0">
                <a:solidFill>
                  <a:schemeClr val="tx1"/>
                </a:solidFill>
              </a:rPr>
              <a:t>   6.Supervisors and Guiding Professor</a:t>
            </a:r>
          </a:p>
          <a:p>
            <a:r>
              <a:rPr lang="en-US" sz="2800" b="1" dirty="0">
                <a:solidFill>
                  <a:schemeClr val="tx1"/>
                </a:solidFill>
              </a:rPr>
              <a:t>   7.Upazila Livestock Officer</a:t>
            </a:r>
          </a:p>
          <a:p>
            <a:r>
              <a:rPr lang="en-US" sz="2800" b="1" dirty="0">
                <a:solidFill>
                  <a:schemeClr val="tx1"/>
                </a:solidFill>
              </a:rPr>
              <a:t>   8.Veterinary Surgeon</a:t>
            </a:r>
          </a:p>
          <a:p>
            <a:r>
              <a:rPr lang="en-US" sz="2800" b="1" dirty="0">
                <a:solidFill>
                  <a:schemeClr val="tx1"/>
                </a:solidFill>
              </a:rPr>
              <a:t>   9.Office staffs</a:t>
            </a:r>
          </a:p>
          <a:p>
            <a:r>
              <a:rPr lang="en-US" sz="2800" b="1" dirty="0">
                <a:solidFill>
                  <a:schemeClr val="tx1"/>
                </a:solidFill>
              </a:rPr>
              <a:t>   10.Farm Workers</a:t>
            </a:r>
          </a:p>
          <a:p>
            <a:pPr algn="ctr"/>
            <a:endParaRPr lang="en-US" sz="2800" b="1" dirty="0">
              <a:solidFill>
                <a:schemeClr val="tx1"/>
              </a:solidFill>
            </a:endParaRPr>
          </a:p>
        </p:txBody>
      </p:sp>
      <p:pic>
        <p:nvPicPr>
          <p:cNvPr id="41" name="Picture 40">
            <a:extLst>
              <a:ext uri="{FF2B5EF4-FFF2-40B4-BE49-F238E27FC236}">
                <a16:creationId xmlns:a16="http://schemas.microsoft.com/office/drawing/2014/main" id="{92E5890B-F96C-DED2-8562-88BA0B02C62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32560" y="17974654"/>
            <a:ext cx="5282217" cy="3494216"/>
          </a:xfrm>
          <a:prstGeom prst="rect">
            <a:avLst/>
          </a:prstGeom>
        </p:spPr>
      </p:pic>
      <p:graphicFrame>
        <p:nvGraphicFramePr>
          <p:cNvPr id="12" name="Chart 11">
            <a:extLst>
              <a:ext uri="{FF2B5EF4-FFF2-40B4-BE49-F238E27FC236}">
                <a16:creationId xmlns:a16="http://schemas.microsoft.com/office/drawing/2014/main" id="{67F55E43-65D9-275A-F998-BDCEBFE32EAB}"/>
              </a:ext>
            </a:extLst>
          </p:cNvPr>
          <p:cNvGraphicFramePr>
            <a:graphicFrameLocks/>
          </p:cNvGraphicFramePr>
          <p:nvPr>
            <p:extLst>
              <p:ext uri="{D42A27DB-BD31-4B8C-83A1-F6EECF244321}">
                <p14:modId xmlns:p14="http://schemas.microsoft.com/office/powerpoint/2010/main" val="2247244197"/>
              </p:ext>
            </p:extLst>
          </p:nvPr>
        </p:nvGraphicFramePr>
        <p:xfrm>
          <a:off x="10791367" y="22119050"/>
          <a:ext cx="5494046" cy="3617025"/>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4" name="Chart 23">
            <a:extLst>
              <a:ext uri="{FF2B5EF4-FFF2-40B4-BE49-F238E27FC236}">
                <a16:creationId xmlns:a16="http://schemas.microsoft.com/office/drawing/2014/main" id="{F2A2B605-A109-739E-8824-5ECF684BECAF}"/>
              </a:ext>
            </a:extLst>
          </p:cNvPr>
          <p:cNvGraphicFramePr>
            <a:graphicFrameLocks/>
          </p:cNvGraphicFramePr>
          <p:nvPr>
            <p:extLst>
              <p:ext uri="{D42A27DB-BD31-4B8C-83A1-F6EECF244321}">
                <p14:modId xmlns:p14="http://schemas.microsoft.com/office/powerpoint/2010/main" val="1489950582"/>
              </p:ext>
            </p:extLst>
          </p:nvPr>
        </p:nvGraphicFramePr>
        <p:xfrm>
          <a:off x="16516496" y="21932240"/>
          <a:ext cx="5174092" cy="3834766"/>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40" name="Chart 39">
            <a:extLst>
              <a:ext uri="{FF2B5EF4-FFF2-40B4-BE49-F238E27FC236}">
                <a16:creationId xmlns:a16="http://schemas.microsoft.com/office/drawing/2014/main" id="{21DAFB24-9695-22AD-CD49-E5CBA6D0E109}"/>
              </a:ext>
            </a:extLst>
          </p:cNvPr>
          <p:cNvGraphicFramePr>
            <a:graphicFrameLocks/>
          </p:cNvGraphicFramePr>
          <p:nvPr>
            <p:extLst>
              <p:ext uri="{D42A27DB-BD31-4B8C-83A1-F6EECF244321}">
                <p14:modId xmlns:p14="http://schemas.microsoft.com/office/powerpoint/2010/main" val="779637197"/>
              </p:ext>
            </p:extLst>
          </p:nvPr>
        </p:nvGraphicFramePr>
        <p:xfrm>
          <a:off x="11416347" y="30604985"/>
          <a:ext cx="10085706" cy="387563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53" name="Chart 52">
            <a:extLst>
              <a:ext uri="{FF2B5EF4-FFF2-40B4-BE49-F238E27FC236}">
                <a16:creationId xmlns:a16="http://schemas.microsoft.com/office/drawing/2014/main" id="{959D6F8B-EE32-7E4E-2EF0-46DB1092DF00}"/>
              </a:ext>
            </a:extLst>
          </p:cNvPr>
          <p:cNvGraphicFramePr>
            <a:graphicFrameLocks/>
          </p:cNvGraphicFramePr>
          <p:nvPr>
            <p:extLst>
              <p:ext uri="{D42A27DB-BD31-4B8C-83A1-F6EECF244321}">
                <p14:modId xmlns:p14="http://schemas.microsoft.com/office/powerpoint/2010/main" val="1490037406"/>
              </p:ext>
            </p:extLst>
          </p:nvPr>
        </p:nvGraphicFramePr>
        <p:xfrm>
          <a:off x="11141853" y="39221714"/>
          <a:ext cx="5151866" cy="4396295"/>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72" name="Chart 71">
            <a:extLst>
              <a:ext uri="{FF2B5EF4-FFF2-40B4-BE49-F238E27FC236}">
                <a16:creationId xmlns:a16="http://schemas.microsoft.com/office/drawing/2014/main" id="{9F58AF39-4461-DAA9-0235-57C63A665548}"/>
              </a:ext>
            </a:extLst>
          </p:cNvPr>
          <p:cNvGraphicFramePr>
            <a:graphicFrameLocks/>
          </p:cNvGraphicFramePr>
          <p:nvPr>
            <p:extLst>
              <p:ext uri="{D42A27DB-BD31-4B8C-83A1-F6EECF244321}">
                <p14:modId xmlns:p14="http://schemas.microsoft.com/office/powerpoint/2010/main" val="2443054114"/>
              </p:ext>
            </p:extLst>
          </p:nvPr>
        </p:nvGraphicFramePr>
        <p:xfrm>
          <a:off x="16005145" y="14102048"/>
          <a:ext cx="5476435" cy="4021047"/>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77" name="Chart 76">
            <a:extLst>
              <a:ext uri="{FF2B5EF4-FFF2-40B4-BE49-F238E27FC236}">
                <a16:creationId xmlns:a16="http://schemas.microsoft.com/office/drawing/2014/main" id="{E50FDB6E-98A8-ACE8-B80A-B2929CAA12B3}"/>
              </a:ext>
            </a:extLst>
          </p:cNvPr>
          <p:cNvGraphicFramePr>
            <a:graphicFrameLocks/>
          </p:cNvGraphicFramePr>
          <p:nvPr>
            <p:extLst>
              <p:ext uri="{D42A27DB-BD31-4B8C-83A1-F6EECF244321}">
                <p14:modId xmlns:p14="http://schemas.microsoft.com/office/powerpoint/2010/main" val="3857230070"/>
              </p:ext>
            </p:extLst>
          </p:nvPr>
        </p:nvGraphicFramePr>
        <p:xfrm>
          <a:off x="22781941" y="9571489"/>
          <a:ext cx="8173371" cy="3186921"/>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56" name="Chart 55">
            <a:extLst>
              <a:ext uri="{FF2B5EF4-FFF2-40B4-BE49-F238E27FC236}">
                <a16:creationId xmlns:a16="http://schemas.microsoft.com/office/drawing/2014/main" id="{7404C79C-9F77-115B-E23E-3368D404EFA0}"/>
              </a:ext>
            </a:extLst>
          </p:cNvPr>
          <p:cNvGraphicFramePr>
            <a:graphicFrameLocks/>
          </p:cNvGraphicFramePr>
          <p:nvPr>
            <p:extLst>
              <p:ext uri="{D42A27DB-BD31-4B8C-83A1-F6EECF244321}">
                <p14:modId xmlns:p14="http://schemas.microsoft.com/office/powerpoint/2010/main" val="2173526290"/>
              </p:ext>
            </p:extLst>
          </p:nvPr>
        </p:nvGraphicFramePr>
        <p:xfrm>
          <a:off x="22862949" y="12758410"/>
          <a:ext cx="8617664" cy="3186921"/>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57" name="Chart 56">
            <a:extLst>
              <a:ext uri="{FF2B5EF4-FFF2-40B4-BE49-F238E27FC236}">
                <a16:creationId xmlns:a16="http://schemas.microsoft.com/office/drawing/2014/main" id="{BA026C80-61EF-D7A8-7F8A-79F14990C207}"/>
              </a:ext>
            </a:extLst>
          </p:cNvPr>
          <p:cNvGraphicFramePr>
            <a:graphicFrameLocks/>
          </p:cNvGraphicFramePr>
          <p:nvPr>
            <p:extLst>
              <p:ext uri="{D42A27DB-BD31-4B8C-83A1-F6EECF244321}">
                <p14:modId xmlns:p14="http://schemas.microsoft.com/office/powerpoint/2010/main" val="1589285068"/>
              </p:ext>
            </p:extLst>
          </p:nvPr>
        </p:nvGraphicFramePr>
        <p:xfrm>
          <a:off x="21991704" y="21112952"/>
          <a:ext cx="10209925" cy="3699555"/>
        </p:xfrm>
        <a:graphic>
          <a:graphicData uri="http://schemas.openxmlformats.org/drawingml/2006/chart">
            <c:chart xmlns:c="http://schemas.openxmlformats.org/drawingml/2006/chart" xmlns:r="http://schemas.openxmlformats.org/officeDocument/2006/relationships" r:id="rId15"/>
          </a:graphicData>
        </a:graphic>
      </p:graphicFrame>
      <p:graphicFrame>
        <p:nvGraphicFramePr>
          <p:cNvPr id="13" name="Chart 12">
            <a:extLst>
              <a:ext uri="{FF2B5EF4-FFF2-40B4-BE49-F238E27FC236}">
                <a16:creationId xmlns:a16="http://schemas.microsoft.com/office/drawing/2014/main" id="{1FEDC705-943A-477E-D170-353A4E09D740}"/>
              </a:ext>
            </a:extLst>
          </p:cNvPr>
          <p:cNvGraphicFramePr>
            <a:graphicFrameLocks/>
          </p:cNvGraphicFramePr>
          <p:nvPr>
            <p:extLst>
              <p:ext uri="{D42A27DB-BD31-4B8C-83A1-F6EECF244321}">
                <p14:modId xmlns:p14="http://schemas.microsoft.com/office/powerpoint/2010/main" val="3185405904"/>
              </p:ext>
            </p:extLst>
          </p:nvPr>
        </p:nvGraphicFramePr>
        <p:xfrm>
          <a:off x="12296274" y="34571409"/>
          <a:ext cx="8623413" cy="4303726"/>
        </p:xfrm>
        <a:graphic>
          <a:graphicData uri="http://schemas.openxmlformats.org/drawingml/2006/chart">
            <c:chart xmlns:c="http://schemas.openxmlformats.org/drawingml/2006/chart" xmlns:r="http://schemas.openxmlformats.org/officeDocument/2006/relationships" r:id="rId16"/>
          </a:graphicData>
        </a:graphic>
      </p:graphicFrame>
      <p:graphicFrame>
        <p:nvGraphicFramePr>
          <p:cNvPr id="39" name="Chart 38">
            <a:extLst>
              <a:ext uri="{FF2B5EF4-FFF2-40B4-BE49-F238E27FC236}">
                <a16:creationId xmlns:a16="http://schemas.microsoft.com/office/drawing/2014/main" id="{8E465C5B-4E1C-0275-A225-B022F9BCF687}"/>
              </a:ext>
            </a:extLst>
          </p:cNvPr>
          <p:cNvGraphicFramePr>
            <a:graphicFrameLocks/>
          </p:cNvGraphicFramePr>
          <p:nvPr>
            <p:extLst>
              <p:ext uri="{D42A27DB-BD31-4B8C-83A1-F6EECF244321}">
                <p14:modId xmlns:p14="http://schemas.microsoft.com/office/powerpoint/2010/main" val="1655012259"/>
              </p:ext>
            </p:extLst>
          </p:nvPr>
        </p:nvGraphicFramePr>
        <p:xfrm>
          <a:off x="11595911" y="26174378"/>
          <a:ext cx="9558750" cy="4176596"/>
        </p:xfrm>
        <a:graphic>
          <a:graphicData uri="http://schemas.openxmlformats.org/drawingml/2006/chart">
            <c:chart xmlns:c="http://schemas.openxmlformats.org/drawingml/2006/chart" xmlns:r="http://schemas.openxmlformats.org/officeDocument/2006/relationships" r:id="rId17"/>
          </a:graphicData>
        </a:graphic>
      </p:graphicFrame>
      <p:pic>
        <p:nvPicPr>
          <p:cNvPr id="8" name="Picture 7">
            <a:extLst>
              <a:ext uri="{FF2B5EF4-FFF2-40B4-BE49-F238E27FC236}">
                <a16:creationId xmlns:a16="http://schemas.microsoft.com/office/drawing/2014/main" id="{59B2B612-4F10-07DC-6649-6EAB3378075E}"/>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8954494" y="39890537"/>
            <a:ext cx="1902381" cy="1624341"/>
          </a:xfrm>
          <a:prstGeom prst="rect">
            <a:avLst/>
          </a:prstGeom>
        </p:spPr>
      </p:pic>
      <p:pic>
        <p:nvPicPr>
          <p:cNvPr id="42" name="Picture 41">
            <a:extLst>
              <a:ext uri="{FF2B5EF4-FFF2-40B4-BE49-F238E27FC236}">
                <a16:creationId xmlns:a16="http://schemas.microsoft.com/office/drawing/2014/main" id="{DA05E65B-5B96-EF87-F16A-AFDB781765AC}"/>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8171296" y="41601840"/>
            <a:ext cx="1624340" cy="1624340"/>
          </a:xfrm>
          <a:prstGeom prst="rect">
            <a:avLst/>
          </a:prstGeom>
        </p:spPr>
      </p:pic>
      <p:pic>
        <p:nvPicPr>
          <p:cNvPr id="43" name="Picture 42">
            <a:extLst>
              <a:ext uri="{FF2B5EF4-FFF2-40B4-BE49-F238E27FC236}">
                <a16:creationId xmlns:a16="http://schemas.microsoft.com/office/drawing/2014/main" id="{2E4D4851-F23C-22C5-317D-E6F2C8DA6A7B}"/>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30009400" y="41632266"/>
            <a:ext cx="1624340" cy="1624340"/>
          </a:xfrm>
          <a:prstGeom prst="rect">
            <a:avLst/>
          </a:prstGeom>
        </p:spPr>
      </p:pic>
      <p:graphicFrame>
        <p:nvGraphicFramePr>
          <p:cNvPr id="60" name="Chart 59">
            <a:extLst>
              <a:ext uri="{FF2B5EF4-FFF2-40B4-BE49-F238E27FC236}">
                <a16:creationId xmlns:a16="http://schemas.microsoft.com/office/drawing/2014/main" id="{251D2255-CC0C-F099-F30D-69A1BE81CDE4}"/>
              </a:ext>
            </a:extLst>
          </p:cNvPr>
          <p:cNvGraphicFramePr>
            <a:graphicFrameLocks/>
          </p:cNvGraphicFramePr>
          <p:nvPr>
            <p:extLst>
              <p:ext uri="{D42A27DB-BD31-4B8C-83A1-F6EECF244321}">
                <p14:modId xmlns:p14="http://schemas.microsoft.com/office/powerpoint/2010/main" val="531223836"/>
              </p:ext>
            </p:extLst>
          </p:nvPr>
        </p:nvGraphicFramePr>
        <p:xfrm>
          <a:off x="16516496" y="39314283"/>
          <a:ext cx="4802313" cy="4303726"/>
        </p:xfrm>
        <a:graphic>
          <a:graphicData uri="http://schemas.openxmlformats.org/drawingml/2006/chart">
            <c:chart xmlns:c="http://schemas.openxmlformats.org/drawingml/2006/chart" xmlns:r="http://schemas.openxmlformats.org/officeDocument/2006/relationships" r:id="rId21"/>
          </a:graphicData>
        </a:graphic>
      </p:graphicFrame>
    </p:spTree>
    <p:extLst>
      <p:ext uri="{BB962C8B-B14F-4D97-AF65-F5344CB8AC3E}">
        <p14:creationId xmlns:p14="http://schemas.microsoft.com/office/powerpoint/2010/main" val="18139213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705</TotalTime>
  <Words>910</Words>
  <Application>Microsoft Office PowerPoint</Application>
  <PresentationFormat>Custom</PresentationFormat>
  <Paragraphs>129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Rockwell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Adnan Rion</dc:creator>
  <cp:lastModifiedBy>User</cp:lastModifiedBy>
  <cp:revision>34</cp:revision>
  <dcterms:created xsi:type="dcterms:W3CDTF">2025-06-20T09:44:46Z</dcterms:created>
  <dcterms:modified xsi:type="dcterms:W3CDTF">2025-10-21T05:09:27Z</dcterms:modified>
</cp:coreProperties>
</file>